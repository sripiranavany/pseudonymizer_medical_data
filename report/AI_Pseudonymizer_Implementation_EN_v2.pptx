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223FA3-B2D1-46A0-B9B7-5C086279663B}" v="16" dt="2026-06-26T06:25:40.7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Regex only (est.)</c:v>
                </c:pt>
              </c:strCache>
            </c:strRef>
          </c:tx>
          <c:spPr>
            <a:solidFill>
              <a:srgbClr val="5A6B73"/>
            </a:solidFill>
            <a:effectLst/>
          </c:spPr>
          <c:invertIfNegative val="0"/>
          <c:dLbls>
            <c:numFmt formatCode="0.00" sourceLinked="0"/>
            <c:spPr>
              <a:noFill/>
              <a:ln>
                <a:noFill/>
              </a:ln>
              <a:effectLst/>
            </c:spPr>
            <c:txPr>
              <a:bodyPr/>
              <a:lstStyle/>
              <a:p>
                <a:pPr>
                  <a:defRPr sz="1100" b="0" i="0" u="none" strike="noStrike">
                    <a:solidFill>
                      <a:srgbClr val="1B2A32"/>
                    </a:solidFill>
                    <a:latin typeface="Calibri"/>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Precision</c:v>
                </c:pt>
                <c:pt idx="1">
                  <c:v>Recall</c:v>
                </c:pt>
                <c:pt idx="2">
                  <c:v>F1</c:v>
                </c:pt>
              </c:strCache>
            </c:strRef>
          </c:cat>
          <c:val>
            <c:numRef>
              <c:f>Sheet1!$B$2:$B$4</c:f>
              <c:numCache>
                <c:formatCode>General</c:formatCode>
                <c:ptCount val="3"/>
                <c:pt idx="0">
                  <c:v>0.88</c:v>
                </c:pt>
                <c:pt idx="1">
                  <c:v>0.52</c:v>
                </c:pt>
                <c:pt idx="2">
                  <c:v>0.65</c:v>
                </c:pt>
              </c:numCache>
            </c:numRef>
          </c:val>
          <c:extLst>
            <c:ext xmlns:c16="http://schemas.microsoft.com/office/drawing/2014/chart" uri="{C3380CC4-5D6E-409C-BE32-E72D297353CC}">
              <c16:uniqueId val="{00000000-DA14-4EE8-85C4-44473D5EFCE9}"/>
            </c:ext>
          </c:extLst>
        </c:ser>
        <c:ser>
          <c:idx val="1"/>
          <c:order val="1"/>
          <c:tx>
            <c:strRef>
              <c:f>Sheet1!$C$1</c:f>
              <c:strCache>
                <c:ptCount val="1"/>
                <c:pt idx="0">
                  <c:v>Regex + local LLM (measured)</c:v>
                </c:pt>
              </c:strCache>
            </c:strRef>
          </c:tx>
          <c:spPr>
            <a:solidFill>
              <a:srgbClr val="028090"/>
            </a:solidFill>
            <a:effectLst/>
          </c:spPr>
          <c:invertIfNegative val="0"/>
          <c:dLbls>
            <c:numFmt formatCode="0.00" sourceLinked="0"/>
            <c:spPr>
              <a:noFill/>
              <a:ln>
                <a:noFill/>
              </a:ln>
              <a:effectLst/>
            </c:spPr>
            <c:txPr>
              <a:bodyPr/>
              <a:lstStyle/>
              <a:p>
                <a:pPr>
                  <a:defRPr sz="1100" b="0" i="0" u="none" strike="noStrike">
                    <a:solidFill>
                      <a:srgbClr val="1B2A32"/>
                    </a:solidFill>
                    <a:latin typeface="Calibri"/>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Precision</c:v>
                </c:pt>
                <c:pt idx="1">
                  <c:v>Recall</c:v>
                </c:pt>
                <c:pt idx="2">
                  <c:v>F1</c:v>
                </c:pt>
              </c:strCache>
            </c:strRef>
          </c:cat>
          <c:val>
            <c:numRef>
              <c:f>Sheet1!$C$2:$C$4</c:f>
              <c:numCache>
                <c:formatCode>General</c:formatCode>
                <c:ptCount val="3"/>
                <c:pt idx="0">
                  <c:v>0.92100000000000004</c:v>
                </c:pt>
                <c:pt idx="1">
                  <c:v>0.82</c:v>
                </c:pt>
                <c:pt idx="2">
                  <c:v>0.86799999999999999</c:v>
                </c:pt>
              </c:numCache>
            </c:numRef>
          </c:val>
          <c:extLst>
            <c:ext xmlns:c16="http://schemas.microsoft.com/office/drawing/2014/chart" uri="{C3380CC4-5D6E-409C-BE32-E72D297353CC}">
              <c16:uniqueId val="{00000001-DA14-4EE8-85C4-44473D5EFCE9}"/>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A32"/>
                </a:solidFill>
                <a:latin typeface="Calibri"/>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12700" cap="flat">
              <a:solidFill>
                <a:srgbClr val="E2E8EA"/>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3"/>
                </a:solidFill>
                <a:latin typeface="Calibri"/>
              </a:defRPr>
            </a:pPr>
            <a:endParaRPr lang="en-US"/>
          </a:p>
        </c:txPr>
        <c:crossAx val="2094734554"/>
        <c:crosses val="autoZero"/>
        <c:crossBetween val="between"/>
        <c:majorUnit val="0.2"/>
      </c:valAx>
      <c:spPr>
        <a:noFill/>
        <a:ln>
          <a:noFill/>
        </a:ln>
        <a:effectLst/>
      </c:spPr>
    </c:plotArea>
    <c:legend>
      <c:legendPos val="b"/>
      <c:overlay val="0"/>
      <c:txPr>
        <a:bodyPr/>
        <a:lstStyle/>
        <a:p>
          <a:pPr>
            <a:defRPr sz="1100">
              <a:solidFill>
                <a:srgbClr val="1B2A32"/>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9960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 ~30 s]
Hi everyone, we are [names]. We're presenting the AI Pseudonymizer for medical data: a LOCAL middleware that lets us use powerful external AI on clinical documents WITHOUT ever exposing patient identity. Over the next ~18 minutes we'll cover the problem, the architecture, how we built it in n8n, the two AI prompts, our measured results, and the regex-vs-AI comparison. I'll start with the context.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 ~1:30 min]
The starting point is a real dilemma. On one hand, AI brings huge value in clinical work: summarising histories, decision support, ICD coding. But that usually needs powerful external models in the cloud. And here's the problem: sending raw clinical data to an external provider breaches the GDPR, because it contains identifiable health data. Today the choice is binary: either drop AI to stay private, or send the data unprotected and break the law. We aimed for the middle ground: use external AI but replace identity before any data leaves. That's exactly what our middleware does, summarised on the right.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 ~1:30 min]
This is the full flow, left to right. One: ingestion, the clinical document becomes clean text. Two: PII detection, regex plus a local LLM. Three: pseudonymization, every identifier is swapped for a plausible fake. Four - the only external step, in dark: the ALREADY-pseudonymized text is sent to the external LLM, which does the analysis. Five: de-pseudonymization, we revert the fakes to real values using a dictionary. Six: evaluation, we measure precision and recall. The key idea is the band at the bottom, the TRUST BOUNDARY: only stage 4 crosses outside, and only with fake data. Everything else stays local. With that, I'll hand over to [Person 2] for the architecture.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 ~2 min]
This is the most important slide: which model does what, and why. On the left, the LOCAL ENVIRONMENT, which sees the real data. Here runs the PII detector, an n8n agent connected to Ollama with mistral:latest, a Mistral 7B running on our own machine. Before the LLM there's a regex pre-pass tuned for German clinical text: dates, ages, IDs, addresses, titled names and physician signatures. And right here, locally, we do pseudonymization and restoration, with a dictionary that lives in memory and is never written to disk. On the right, the EXTERNAL PROVIDER: another agent connected to Mistral Cloud, which only receives the pseudonymized text and writes the clinical summary. The golden rule is at the bottom: the detector sees real PHI, so it MUST be local; the summariser only sees pseudonyms, so it CAN be external and powerful. That's data minimisation by design.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 ~1:30 min]
Here's how it maps to n8n. Load Input reads the GraSCCo corpus, in UIMA CAS JSON format, and extracts the text plus the PII annotations we use as ground-truth. Node A does regex detection. The AI Agent with Ollama adds context-based detection. Merge Detections combines both sources and filters hallucinations and duplicates. B pseudonymizes and builds the dictionary. AI Agent1 with Mistral Cloud - the only external one, in red - writes the summary. C reverts the pseudonyms and D computes the metrics. On the right is the loop: a Loop Over Items processes documents one at a time, and a Code node aggregates results across the whole corpus into a single number. Green is local, red is external.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 ~1 min]
These are the categories we defined as PII to protect, aligned with the corpus annotations. Names of any person, including lone initials and ALL-CAPS names from signatures. Dates in German formats and standalone years. Age. Full addresses with postal code and city. Contact. ID numbers. Profession. And academic titles, even when standalone. The key point, at the bottom: we only mask identity; the clinical content - diagnoses, findings, plan - is kept intact, because that's exactly what the LLM needs to write a good summary. With that I'll pass to [Person 3] for the prompts.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3 - ~1:30 min]
This is the first prompt, for the local detector. We designed it to PRIORITISE recall: in privacy, a missed PII is a leak, so when in doubt, extract. We give it the category list and, importantly, three rules: copy the value EXACTLY as it appears, no translating or inventing; split comma-separated name lists into separate entities; and for Title plus Name, return both forms. At the bottom there's an explicit blacklist of what is NOT PII: diagnoses, vertebral levels like L4/5, treatment descriptions, lab values, doses and empty placeholders. This was key to cutting the false positives the local model produced. The output is strict JSON, which we then parse.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3 - ~1:30 min]
This is the second prompt, for the external summariser on Mistral Cloud. It only receives the pseudonymized text. We ask for an Epikrise, a clinical progress report, with five laws. The first is the most important for us: VALUE PRESERVATION - copy every name, date and age verbatim. This is what lets us later revert each pseudonym to its real value reliably; if the model paraphrased them, it would break restoration. The second, no hallucination: don't add any medical fact not in the text. Then professional German and bullet-point format. The line at the bottom sums it up: rule 1 underpins the entire stage-5 de-pseudonymization.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3 - ~2 min]
These are the results, micro-averaged over 5 GraSCCo clinical notes, with 100 ground-truth PII entities. For DETECTION: precision 0.92, recall 0.82 and F1 0.87. We detect 82 of every 100 identifiers and almost everything we flag is genuinely PII, only 7 false positives. For RESTORATION we measure over what the summary actually mentions - the fair metric, because it makes no sense to penalise us for entities the summary chooses to omit. There the recall is 0.94, with very few pseudonym leaks. To be honest: it's 5 documents, a sample; the pipeline is ready to run the full corpus via the loop. The hardest case is rare entities like multi-line hospital letterheads. I'll hand over to [Person 4] for the comparison and wrap-up.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 ~2 min]
Here we compare two detection approaches. Regex only: pattern rules. It's the fastest and fully deterministic, and does very well on structured fields like IDs and dates. But it misses free-text names, which are exactly the most dangerous for a leak. The hybrid adds a local LLM that reads context and recovers those names, at the cost of some speed and run-to-run variability. OUR CHOICE is the hybrid, because of the band at the bottom: in privacy what matters is COVERAGE, recall, because every identifier that escapes is a leak to the outside. Regex alone didn't give us enough recall. Honesty note in case they ask: we measured the final hybrid system; the regex-only column is qualitative, based on the errors we observed, not a separate measurement.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 ~1 min, optional]
To see the difference statistically: this chart breaks detection down by metric. Precision is similar for both - around 0.88 to 0.92 - because both approaches are careful about what they flag. The real difference is RECALL: regex alone sits around 0.52, the hybrid reaches 0.82. That plus-0.30 is the local LLM catching the free-text names that pattern rules miss. And since in privacy recall is what prevents leaks, that jump is exactly why we chose the hybrid. Honesty note: the hybrid bars are measured on our 5 documents; the regex-only bars are an illustrative estimate from the errors we observed, not a separate measurement run.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 ~1 min]
In summary: we've kept the value of AI while removing the privacy risk. The outcome is an end-to-end n8n pipeline that analyses documents with external AI with PII protected throughout. The practical value is that it lets a healthcare facility adopt powerful clinical AI without breaching the GDPR. And it's not a black box: it has objective evaluation with precision, recall and F1, a provider-agnostic gateway - you switch external LLM by changing a single URL - and room to add more templates and more documents.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 ~30 s + Q&amp;A]
And that's it. Thank you for your attention. We're open to questions on the architecture, the privacy model or the evaluation.
Likely questions and short answers:
- Why Mistral and not OpenAI: compatible endpoint, free tier, and it proves the gateway is provider-agnostic.
- Is this 100% GDPR-compliant: pseudonymization REDUCES, not eliminates, the duty; the provider is still assessable. That's why we talk about data minimisation.
- Only 5 documents: it's a sample; the loop lets us run the full corpus.
- What if the detector fails: that's why we prioritise recall and add the regex pre-pass as a deterministic safety net.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8"/>
        </a:solidFill>
        <a:effectLst/>
      </p:bgPr>
    </p:bg>
    <p:spTree>
      <p:nvGrpSpPr>
        <p:cNvPr id="1" name=""/>
        <p:cNvGrpSpPr/>
        <p:nvPr/>
      </p:nvGrpSpPr>
      <p:grpSpPr>
        <a:xfrm>
          <a:off x="0" y="0"/>
          <a:ext cx="0" cy="0"/>
          <a:chOff x="0" y="0"/>
          <a:chExt cx="0" cy="0"/>
        </a:xfrm>
      </p:grpSpPr>
      <p:sp>
        <p:nvSpPr>
          <p:cNvPr id="2" name="Shape 0"/>
          <p:cNvSpPr/>
          <p:nvPr/>
        </p:nvSpPr>
        <p:spPr>
          <a:xfrm>
            <a:off x="9509760" y="-1463040"/>
            <a:ext cx="4389120" cy="4389120"/>
          </a:xfrm>
          <a:prstGeom prst="ellipse">
            <a:avLst/>
          </a:prstGeom>
          <a:solidFill>
            <a:srgbClr val="028090">
              <a:alpha val="38000"/>
            </a:srgbClr>
          </a:solidFill>
          <a:ln/>
        </p:spPr>
        <p:txBody>
          <a:bodyPr/>
          <a:lstStyle/>
          <a:p>
            <a:endParaRPr lang="es-ES"/>
          </a:p>
        </p:txBody>
      </p:sp>
      <p:sp>
        <p:nvSpPr>
          <p:cNvPr id="3" name="Shape 1"/>
          <p:cNvSpPr/>
          <p:nvPr/>
        </p:nvSpPr>
        <p:spPr>
          <a:xfrm>
            <a:off x="10607040" y="4023360"/>
            <a:ext cx="3291840" cy="3291840"/>
          </a:xfrm>
          <a:prstGeom prst="ellipse">
            <a:avLst/>
          </a:prstGeom>
          <a:solidFill>
            <a:srgbClr val="02C39A">
              <a:alpha val="26000"/>
            </a:srgbClr>
          </a:solidFill>
          <a:ln/>
        </p:spPr>
        <p:txBody>
          <a:bodyPr/>
          <a:lstStyle/>
          <a:p>
            <a:endParaRPr lang="es-ES"/>
          </a:p>
        </p:txBody>
      </p:sp>
      <p:sp>
        <p:nvSpPr>
          <p:cNvPr id="4" name="Text 2"/>
          <p:cNvSpPr/>
          <p:nvPr/>
        </p:nvSpPr>
        <p:spPr>
          <a:xfrm>
            <a:off x="822960" y="1371600"/>
            <a:ext cx="8229600" cy="365760"/>
          </a:xfrm>
          <a:prstGeom prst="rect">
            <a:avLst/>
          </a:prstGeom>
          <a:noFill/>
          <a:ln/>
        </p:spPr>
        <p:txBody>
          <a:bodyPr wrap="square" lIns="0" tIns="0" rIns="0" bIns="0" rtlCol="0" anchor="ctr"/>
          <a:lstStyle/>
          <a:p>
            <a:pPr marL="0" indent="0">
              <a:buNone/>
            </a:pPr>
            <a:r>
              <a:rPr lang="en-US" sz="1400" b="1" kern="0" spc="400" dirty="0">
                <a:solidFill>
                  <a:srgbClr val="02C39A"/>
                </a:solidFill>
                <a:latin typeface="Calibri" pitchFamily="34" charset="0"/>
                <a:ea typeface="Calibri" pitchFamily="34" charset="-122"/>
                <a:cs typeface="Calibri" pitchFamily="34" charset="-120"/>
              </a:rPr>
              <a:t>PROJECT PRESENTATION</a:t>
            </a:r>
            <a:endParaRPr lang="en-US" sz="1400" dirty="0"/>
          </a:p>
        </p:txBody>
      </p:sp>
      <p:sp>
        <p:nvSpPr>
          <p:cNvPr id="5" name="Text 3"/>
          <p:cNvSpPr/>
          <p:nvPr/>
        </p:nvSpPr>
        <p:spPr>
          <a:xfrm>
            <a:off x="822960" y="1828800"/>
            <a:ext cx="9601200" cy="1828800"/>
          </a:xfrm>
          <a:prstGeom prst="rect">
            <a:avLst/>
          </a:prstGeom>
          <a:noFill/>
          <a:ln/>
        </p:spPr>
        <p:txBody>
          <a:bodyPr wrap="square" lIns="0" tIns="0" rIns="0" bIns="0" rtlCol="0" anchor="ctr"/>
          <a:lstStyle/>
          <a:p>
            <a:pPr marL="0" indent="0">
              <a:lnSpc>
                <a:spcPct val="100000"/>
              </a:lnSpc>
              <a:buNone/>
            </a:pPr>
            <a:r>
              <a:rPr lang="en-US" sz="4800" b="1" dirty="0">
                <a:solidFill>
                  <a:srgbClr val="FFFFFF"/>
                </a:solidFill>
                <a:latin typeface="Cambria" pitchFamily="34" charset="0"/>
                <a:ea typeface="Cambria" pitchFamily="34" charset="-122"/>
                <a:cs typeface="Cambria" pitchFamily="34" charset="-120"/>
              </a:rPr>
              <a:t>AI Pseudonymizer</a:t>
            </a:r>
            <a:endParaRPr lang="en-US" sz="4800" dirty="0"/>
          </a:p>
          <a:p>
            <a:pPr marL="0" indent="0">
              <a:lnSpc>
                <a:spcPct val="100000"/>
              </a:lnSpc>
              <a:buNone/>
            </a:pPr>
            <a:r>
              <a:rPr lang="en-US" sz="4800" b="1" dirty="0">
                <a:solidFill>
                  <a:srgbClr val="FFFFFF"/>
                </a:solidFill>
                <a:latin typeface="Cambria" pitchFamily="34" charset="0"/>
                <a:ea typeface="Cambria" pitchFamily="34" charset="-122"/>
                <a:cs typeface="Cambria" pitchFamily="34" charset="-120"/>
              </a:rPr>
              <a:t>for Medical Data</a:t>
            </a:r>
            <a:endParaRPr lang="en-US" sz="4800" dirty="0"/>
          </a:p>
        </p:txBody>
      </p:sp>
      <p:sp>
        <p:nvSpPr>
          <p:cNvPr id="6" name="Text 4"/>
          <p:cNvSpPr/>
          <p:nvPr/>
        </p:nvSpPr>
        <p:spPr>
          <a:xfrm>
            <a:off x="822960" y="3977640"/>
            <a:ext cx="8778240" cy="822960"/>
          </a:xfrm>
          <a:prstGeom prst="rect">
            <a:avLst/>
          </a:prstGeom>
          <a:noFill/>
          <a:ln/>
        </p:spPr>
        <p:txBody>
          <a:bodyPr wrap="square" lIns="0" tIns="0" rIns="0" bIns="0" rtlCol="0" anchor="ctr"/>
          <a:lstStyle/>
          <a:p>
            <a:pPr marL="0" indent="0">
              <a:buNone/>
            </a:pPr>
            <a:r>
              <a:rPr lang="en-US" sz="1700" dirty="0">
                <a:solidFill>
                  <a:srgbClr val="CADDE4"/>
                </a:solidFill>
                <a:latin typeface="Calibri" pitchFamily="34" charset="0"/>
                <a:ea typeface="Calibri" pitchFamily="34" charset="-122"/>
                <a:cs typeface="Calibri" pitchFamily="34" charset="-120"/>
              </a:rPr>
              <a:t>A local middleware that lets external AI analyse clinical documents - without ever exposing patient identity.</a:t>
            </a:r>
            <a:endParaRPr lang="en-US" sz="1700" dirty="0"/>
          </a:p>
        </p:txBody>
      </p:sp>
      <p:sp>
        <p:nvSpPr>
          <p:cNvPr id="7" name="Shape 5"/>
          <p:cNvSpPr/>
          <p:nvPr/>
        </p:nvSpPr>
        <p:spPr>
          <a:xfrm>
            <a:off x="841248" y="5074920"/>
            <a:ext cx="2926080" cy="0"/>
          </a:xfrm>
          <a:prstGeom prst="line">
            <a:avLst/>
          </a:prstGeom>
          <a:noFill/>
          <a:ln w="25400">
            <a:solidFill>
              <a:srgbClr val="028090"/>
            </a:solidFill>
            <a:prstDash val="solid"/>
          </a:ln>
        </p:spPr>
        <p:txBody>
          <a:bodyPr/>
          <a:lstStyle/>
          <a:p>
            <a:endParaRPr lang="es-ES"/>
          </a:p>
        </p:txBody>
      </p:sp>
      <p:sp>
        <p:nvSpPr>
          <p:cNvPr id="8" name="Text 6"/>
          <p:cNvSpPr/>
          <p:nvPr/>
        </p:nvSpPr>
        <p:spPr>
          <a:xfrm>
            <a:off x="841248" y="5257800"/>
            <a:ext cx="10058400" cy="731520"/>
          </a:xfrm>
          <a:prstGeom prst="rect">
            <a:avLst/>
          </a:prstGeom>
          <a:noFill/>
          <a:ln/>
        </p:spPr>
        <p:txBody>
          <a:bodyPr wrap="square" lIns="0" tIns="0" rIns="0" bIns="0" rtlCol="0" anchor="ctr"/>
          <a:lstStyle/>
          <a:p>
            <a:pPr marL="0" indent="0">
              <a:buNone/>
            </a:pPr>
            <a:r>
              <a:rPr lang="en-US" sz="1300" dirty="0">
                <a:solidFill>
                  <a:srgbClr val="9FB8C2"/>
                </a:solidFill>
                <a:latin typeface="Calibri" pitchFamily="34" charset="0"/>
                <a:ea typeface="Calibri" pitchFamily="34" charset="-122"/>
                <a:cs typeface="Calibri" pitchFamily="34" charset="-120"/>
              </a:rPr>
              <a:t>n8n pipeline · Hybrid Regex + local LLM detection · External LLM analysis</a:t>
            </a:r>
            <a:endParaRPr lang="en-US" sz="1300" dirty="0"/>
          </a:p>
          <a:p>
            <a:pPr marL="0" indent="0">
              <a:buNone/>
            </a:pPr>
            <a:r>
              <a:rPr lang="en-US" sz="1300" dirty="0">
                <a:solidFill>
                  <a:srgbClr val="6E8B95"/>
                </a:solidFill>
                <a:latin typeface="Calibri" pitchFamily="34" charset="0"/>
                <a:ea typeface="Calibri" pitchFamily="34" charset="-122"/>
                <a:cs typeface="Calibri" pitchFamily="34" charset="-120"/>
              </a:rPr>
              <a:t>Data Security &amp; Privacy module · June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028090"/>
                </a:solidFill>
                <a:latin typeface="Calibri" pitchFamily="34" charset="0"/>
                <a:ea typeface="Calibri" pitchFamily="34" charset="-122"/>
                <a:cs typeface="Calibri" pitchFamily="34" charset="-120"/>
              </a:rPr>
              <a:t>THE IDEA IN BRIEF</a:t>
            </a: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t"/>
          <a:lstStyle/>
          <a:p>
            <a:pPr marL="0" indent="0">
              <a:buNone/>
            </a:pPr>
            <a:r>
              <a:rPr lang="en-US" sz="3000" b="1" dirty="0">
                <a:solidFill>
                  <a:srgbClr val="1B2A32"/>
                </a:solidFill>
                <a:latin typeface="Cambria" pitchFamily="34" charset="0"/>
                <a:ea typeface="Cambria" pitchFamily="34" charset="-122"/>
                <a:cs typeface="Cambria" pitchFamily="34" charset="-120"/>
              </a:rPr>
              <a:t>The problem and our solution on one page</a:t>
            </a:r>
            <a:endParaRPr lang="en-US" sz="3000" dirty="0"/>
          </a:p>
        </p:txBody>
      </p:sp>
      <p:sp>
        <p:nvSpPr>
          <p:cNvPr id="4" name="Shape 2"/>
          <p:cNvSpPr/>
          <p:nvPr/>
        </p:nvSpPr>
        <p:spPr>
          <a:xfrm>
            <a:off x="548640" y="1554480"/>
            <a:ext cx="5394960" cy="4663440"/>
          </a:xfrm>
          <a:prstGeom prst="roundRect">
            <a:avLst>
              <a:gd name="adj" fmla="val 1569"/>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5" name="Text 3"/>
          <p:cNvSpPr/>
          <p:nvPr/>
        </p:nvSpPr>
        <p:spPr>
          <a:xfrm>
            <a:off x="868680" y="1783080"/>
            <a:ext cx="4572000" cy="320040"/>
          </a:xfrm>
          <a:prstGeom prst="rect">
            <a:avLst/>
          </a:prstGeom>
          <a:noFill/>
          <a:ln/>
        </p:spPr>
        <p:txBody>
          <a:bodyPr wrap="square" lIns="0" tIns="0" rIns="0" bIns="0" rtlCol="0" anchor="ctr"/>
          <a:lstStyle/>
          <a:p>
            <a:pPr marL="0" indent="0">
              <a:buNone/>
            </a:pPr>
            <a:r>
              <a:rPr lang="en-US" sz="1300" b="1" kern="0" spc="200" dirty="0">
                <a:solidFill>
                  <a:srgbClr val="F96167"/>
                </a:solidFill>
                <a:latin typeface="Calibri" pitchFamily="34" charset="0"/>
                <a:ea typeface="Calibri" pitchFamily="34" charset="-122"/>
                <a:cs typeface="Calibri" pitchFamily="34" charset="-120"/>
              </a:rPr>
              <a:t>THE DILEMMA</a:t>
            </a:r>
            <a:endParaRPr lang="en-US" sz="1300" dirty="0"/>
          </a:p>
        </p:txBody>
      </p:sp>
      <p:sp>
        <p:nvSpPr>
          <p:cNvPr id="6" name="Text 4"/>
          <p:cNvSpPr/>
          <p:nvPr/>
        </p:nvSpPr>
        <p:spPr>
          <a:xfrm>
            <a:off x="868680" y="2148840"/>
            <a:ext cx="4800600" cy="3840480"/>
          </a:xfrm>
          <a:prstGeom prst="rect">
            <a:avLst/>
          </a:prstGeom>
          <a:noFill/>
          <a:ln/>
        </p:spPr>
        <p:txBody>
          <a:bodyPr wrap="square" lIns="0" tIns="0" rIns="0" bIns="0" rtlCol="0" anchor="t"/>
          <a:lstStyle/>
          <a:p>
            <a:pPr marL="0" indent="0">
              <a:lnSpc>
                <a:spcPct val="105000"/>
              </a:lnSpc>
              <a:buNone/>
            </a:pPr>
            <a:r>
              <a:rPr lang="en-US" sz="1600" b="1" dirty="0">
                <a:solidFill>
                  <a:srgbClr val="1B2A32"/>
                </a:solidFill>
                <a:latin typeface="Calibri" pitchFamily="34" charset="0"/>
                <a:ea typeface="Calibri" pitchFamily="34" charset="-122"/>
                <a:cs typeface="Calibri" pitchFamily="34" charset="-120"/>
              </a:rPr>
              <a:t>AI brings huge clinical value</a:t>
            </a:r>
            <a:endParaRPr lang="en-US" sz="1600" dirty="0"/>
          </a:p>
          <a:p>
            <a:pPr marL="0" indent="0">
              <a:lnSpc>
                <a:spcPct val="105000"/>
              </a:lnSpc>
              <a:buNone/>
            </a:pPr>
            <a:r>
              <a:rPr lang="en-US" sz="1350" dirty="0">
                <a:solidFill>
                  <a:srgbClr val="5A6B73"/>
                </a:solidFill>
                <a:latin typeface="Calibri" pitchFamily="34" charset="0"/>
                <a:ea typeface="Calibri" pitchFamily="34" charset="-122"/>
                <a:cs typeface="Calibri" pitchFamily="34" charset="-120"/>
              </a:rPr>
              <a:t>Summarising histories, decision support, ICD coding...
</a:t>
            </a:r>
            <a:endParaRPr lang="en-US" sz="1600" dirty="0"/>
          </a:p>
          <a:p>
            <a:pPr marL="0" indent="0">
              <a:lnSpc>
                <a:spcPct val="105000"/>
              </a:lnSpc>
              <a:buNone/>
            </a:pPr>
            <a:r>
              <a:rPr lang="en-US" sz="1600" b="1" dirty="0">
                <a:solidFill>
                  <a:srgbClr val="1B2A32"/>
                </a:solidFill>
                <a:latin typeface="Calibri" pitchFamily="34" charset="0"/>
                <a:ea typeface="Calibri" pitchFamily="34" charset="-122"/>
                <a:cs typeface="Calibri" pitchFamily="34" charset="-120"/>
              </a:rPr>
              <a:t>...but it needs powerful external models</a:t>
            </a:r>
            <a:endParaRPr lang="en-US" sz="1600" dirty="0"/>
          </a:p>
          <a:p>
            <a:pPr marL="0" indent="0">
              <a:lnSpc>
                <a:spcPct val="105000"/>
              </a:lnSpc>
              <a:buNone/>
            </a:pPr>
            <a:r>
              <a:rPr lang="en-US" sz="1350" dirty="0">
                <a:solidFill>
                  <a:srgbClr val="5A6B73"/>
                </a:solidFill>
                <a:latin typeface="Calibri" pitchFamily="34" charset="0"/>
                <a:ea typeface="Calibri" pitchFamily="34" charset="-122"/>
                <a:cs typeface="Calibri" pitchFamily="34" charset="-120"/>
              </a:rPr>
              <a:t>And sending raw clinical data out breaches the GDPR.
</a:t>
            </a:r>
            <a:endParaRPr lang="en-US" sz="1600" dirty="0"/>
          </a:p>
          <a:p>
            <a:pPr marL="0" indent="0">
              <a:lnSpc>
                <a:spcPct val="105000"/>
              </a:lnSpc>
              <a:buNone/>
            </a:pPr>
            <a:r>
              <a:rPr lang="en-US" sz="1600" b="1" dirty="0">
                <a:solidFill>
                  <a:srgbClr val="1B2A32"/>
                </a:solidFill>
                <a:latin typeface="Calibri" pitchFamily="34" charset="0"/>
                <a:ea typeface="Calibri" pitchFamily="34" charset="-122"/>
                <a:cs typeface="Calibri" pitchFamily="34" charset="-120"/>
              </a:rPr>
              <a:t>Today the choice is binary</a:t>
            </a:r>
            <a:endParaRPr lang="en-US" sz="1600" dirty="0"/>
          </a:p>
          <a:p>
            <a:pPr marL="0" indent="0">
              <a:lnSpc>
                <a:spcPct val="105000"/>
              </a:lnSpc>
              <a:buNone/>
            </a:pPr>
            <a:r>
              <a:rPr lang="en-US" sz="1350" dirty="0">
                <a:solidFill>
                  <a:srgbClr val="5A6B73"/>
                </a:solidFill>
                <a:latin typeface="Calibri" pitchFamily="34" charset="0"/>
                <a:ea typeface="Calibri" pitchFamily="34" charset="-122"/>
                <a:cs typeface="Calibri" pitchFamily="34" charset="-120"/>
              </a:rPr>
              <a:t>Drop AI to stay private, or send data unprotected and break the law.</a:t>
            </a:r>
            <a:endParaRPr lang="en-US" sz="1600" dirty="0"/>
          </a:p>
        </p:txBody>
      </p:sp>
      <p:sp>
        <p:nvSpPr>
          <p:cNvPr id="7" name="Shape 5"/>
          <p:cNvSpPr/>
          <p:nvPr/>
        </p:nvSpPr>
        <p:spPr>
          <a:xfrm>
            <a:off x="6217920" y="1554480"/>
            <a:ext cx="5394960" cy="4663440"/>
          </a:xfrm>
          <a:prstGeom prst="roundRect">
            <a:avLst>
              <a:gd name="adj" fmla="val 1569"/>
            </a:avLst>
          </a:prstGeom>
          <a:solidFill>
            <a:srgbClr val="0E2A38"/>
          </a:solidFill>
          <a:ln/>
          <a:effectLst>
            <a:outerShdw blurRad="88900" dist="38100" dir="5400000" algn="bl" rotWithShape="0">
              <a:srgbClr val="0E2A38">
                <a:alpha val="10000"/>
              </a:srgbClr>
            </a:outerShdw>
          </a:effectLst>
        </p:spPr>
        <p:txBody>
          <a:bodyPr/>
          <a:lstStyle/>
          <a:p>
            <a:endParaRPr lang="es-ES"/>
          </a:p>
        </p:txBody>
      </p:sp>
      <p:sp>
        <p:nvSpPr>
          <p:cNvPr id="8" name="Text 6"/>
          <p:cNvSpPr/>
          <p:nvPr/>
        </p:nvSpPr>
        <p:spPr>
          <a:xfrm>
            <a:off x="6537960" y="1783080"/>
            <a:ext cx="4572000" cy="320040"/>
          </a:xfrm>
          <a:prstGeom prst="rect">
            <a:avLst/>
          </a:prstGeom>
          <a:noFill/>
          <a:ln/>
        </p:spPr>
        <p:txBody>
          <a:bodyPr wrap="square" lIns="0" tIns="0" rIns="0" bIns="0"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OUR SOLUTION</a:t>
            </a:r>
            <a:endParaRPr lang="en-US" sz="1300" dirty="0"/>
          </a:p>
        </p:txBody>
      </p:sp>
      <p:sp>
        <p:nvSpPr>
          <p:cNvPr id="9" name="Text 7"/>
          <p:cNvSpPr/>
          <p:nvPr/>
        </p:nvSpPr>
        <p:spPr>
          <a:xfrm>
            <a:off x="6537960" y="2148840"/>
            <a:ext cx="4800600" cy="3840480"/>
          </a:xfrm>
          <a:prstGeom prst="rect">
            <a:avLst/>
          </a:prstGeom>
          <a:noFill/>
          <a:ln/>
        </p:spPr>
        <p:txBody>
          <a:bodyPr wrap="square" lIns="0" tIns="0" rIns="0" bIns="0" rtlCol="0" anchor="t"/>
          <a:lstStyle/>
          <a:p>
            <a:pPr marL="0" indent="0">
              <a:lnSpc>
                <a:spcPct val="105000"/>
              </a:lnSpc>
              <a:buNone/>
            </a:pPr>
            <a:r>
              <a:rPr lang="en-US" sz="1600" b="1" dirty="0">
                <a:solidFill>
                  <a:srgbClr val="FFFFFF"/>
                </a:solidFill>
                <a:latin typeface="Calibri" pitchFamily="34" charset="0"/>
                <a:ea typeface="Calibri" pitchFamily="34" charset="-122"/>
                <a:cs typeface="Calibri" pitchFamily="34" charset="-120"/>
              </a:rPr>
              <a:t>A local pseudonymization middleware</a:t>
            </a:r>
            <a:endParaRPr lang="en-US" sz="1600" dirty="0"/>
          </a:p>
          <a:p>
            <a:pPr marL="0" indent="0">
              <a:lnSpc>
                <a:spcPct val="105000"/>
              </a:lnSpc>
              <a:buNone/>
            </a:pPr>
            <a:r>
              <a:rPr lang="en-US" sz="1350" dirty="0">
                <a:solidFill>
                  <a:srgbClr val="CADDE4"/>
                </a:solidFill>
                <a:latin typeface="Calibri" pitchFamily="34" charset="0"/>
                <a:ea typeface="Calibri" pitchFamily="34" charset="-122"/>
                <a:cs typeface="Calibri" pitchFamily="34" charset="-120"/>
              </a:rPr>
              <a:t>Detects PII, swaps it for plausible fakes, lets the external LLM work on the safe text, and restores identity at the end.
</a:t>
            </a:r>
            <a:endParaRPr lang="en-US" sz="1600" dirty="0"/>
          </a:p>
          <a:p>
            <a:pPr marL="0" indent="0">
              <a:lnSpc>
                <a:spcPct val="105000"/>
              </a:lnSpc>
              <a:buNone/>
            </a:pPr>
            <a:r>
              <a:rPr lang="en-US" sz="1600" b="1" dirty="0">
                <a:solidFill>
                  <a:srgbClr val="FFFFFF"/>
                </a:solidFill>
                <a:latin typeface="Calibri" pitchFamily="34" charset="0"/>
                <a:ea typeface="Calibri" pitchFamily="34" charset="-122"/>
                <a:cs typeface="Calibri" pitchFamily="34" charset="-120"/>
              </a:rPr>
              <a:t>PII never leaves unprotected</a:t>
            </a:r>
            <a:endParaRPr lang="en-US" sz="1600" dirty="0"/>
          </a:p>
          <a:p>
            <a:pPr marL="0" indent="0">
              <a:lnSpc>
                <a:spcPct val="105000"/>
              </a:lnSpc>
              <a:buNone/>
            </a:pPr>
            <a:r>
              <a:rPr lang="en-US" sz="1350" dirty="0">
                <a:solidFill>
                  <a:srgbClr val="CADDE4"/>
                </a:solidFill>
                <a:latin typeface="Calibri" pitchFamily="34" charset="0"/>
                <a:ea typeface="Calibri" pitchFamily="34" charset="-122"/>
                <a:cs typeface="Calibri" pitchFamily="34" charset="-120"/>
              </a:rPr>
              <a:t>Detection, pseudonymization and restoration stay in the local environment.
</a:t>
            </a:r>
            <a:endParaRPr lang="en-US" sz="1600" dirty="0"/>
          </a:p>
          <a:p>
            <a:pPr marL="0" indent="0">
              <a:lnSpc>
                <a:spcPct val="105000"/>
              </a:lnSpc>
              <a:buNone/>
            </a:pPr>
            <a:r>
              <a:rPr lang="en-US" sz="1600" b="1" dirty="0">
                <a:solidFill>
                  <a:srgbClr val="FFFFFF"/>
                </a:solidFill>
                <a:latin typeface="Calibri" pitchFamily="34" charset="0"/>
                <a:ea typeface="Calibri" pitchFamily="34" charset="-122"/>
                <a:cs typeface="Calibri" pitchFamily="34" charset="-120"/>
              </a:rPr>
              <a:t>Keep the value, remove the risk</a:t>
            </a:r>
            <a:endParaRPr lang="en-US" sz="1600" dirty="0"/>
          </a:p>
          <a:p>
            <a:pPr marL="0" indent="0">
              <a:lnSpc>
                <a:spcPct val="105000"/>
              </a:lnSpc>
              <a:buNone/>
            </a:pPr>
            <a:r>
              <a:rPr lang="en-US" sz="1350" dirty="0">
                <a:solidFill>
                  <a:srgbClr val="CADDE4"/>
                </a:solidFill>
                <a:latin typeface="Calibri" pitchFamily="34" charset="0"/>
                <a:ea typeface="Calibri" pitchFamily="34" charset="-122"/>
                <a:cs typeface="Calibri" pitchFamily="34" charset="-120"/>
              </a:rPr>
              <a:t>A principled middle ground, GDPR-aligned by design.</a:t>
            </a:r>
            <a:endParaRPr lang="en-US" sz="1600" dirty="0"/>
          </a:p>
        </p:txBody>
      </p:sp>
      <p:sp>
        <p:nvSpPr>
          <p:cNvPr id="10" name="Text 8"/>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5A6B73"/>
                </a:solidFill>
                <a:latin typeface="Calibri" pitchFamily="34" charset="0"/>
                <a:ea typeface="Calibri" pitchFamily="34" charset="-122"/>
                <a:cs typeface="Calibri"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028090"/>
                </a:solidFill>
                <a:latin typeface="Calibri" pitchFamily="34" charset="0"/>
                <a:ea typeface="Calibri" pitchFamily="34" charset="-122"/>
                <a:cs typeface="Calibri" pitchFamily="34" charset="-120"/>
              </a:rPr>
              <a:t>THE IDEA IN BRIEF</a:t>
            </a: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t"/>
          <a:lstStyle/>
          <a:p>
            <a:pPr marL="0" indent="0">
              <a:buNone/>
            </a:pPr>
            <a:r>
              <a:rPr lang="en-US" sz="3000" b="1" dirty="0">
                <a:solidFill>
                  <a:srgbClr val="1B2A32"/>
                </a:solidFill>
                <a:latin typeface="Cambria" pitchFamily="34" charset="0"/>
                <a:ea typeface="Cambria" pitchFamily="34" charset="-122"/>
                <a:cs typeface="Cambria" pitchFamily="34" charset="-120"/>
              </a:rPr>
              <a:t>The end-to-end flow</a:t>
            </a:r>
            <a:endParaRPr lang="en-US" sz="3000" dirty="0"/>
          </a:p>
        </p:txBody>
      </p:sp>
      <p:sp>
        <p:nvSpPr>
          <p:cNvPr id="4" name="Shape 2"/>
          <p:cNvSpPr/>
          <p:nvPr/>
        </p:nvSpPr>
        <p:spPr>
          <a:xfrm>
            <a:off x="548640" y="2103120"/>
            <a:ext cx="1783080" cy="2468880"/>
          </a:xfrm>
          <a:prstGeom prst="roundRect">
            <a:avLst>
              <a:gd name="adj" fmla="val 410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5" name="Shape 3"/>
          <p:cNvSpPr/>
          <p:nvPr/>
        </p:nvSpPr>
        <p:spPr>
          <a:xfrm>
            <a:off x="713232" y="2304288"/>
            <a:ext cx="384048" cy="384048"/>
          </a:xfrm>
          <a:prstGeom prst="ellipse">
            <a:avLst/>
          </a:prstGeom>
          <a:solidFill>
            <a:srgbClr val="028090"/>
          </a:solidFill>
          <a:ln/>
        </p:spPr>
        <p:txBody>
          <a:bodyPr/>
          <a:lstStyle/>
          <a:p>
            <a:endParaRPr lang="es-ES"/>
          </a:p>
        </p:txBody>
      </p:sp>
      <p:sp>
        <p:nvSpPr>
          <p:cNvPr id="6" name="Text 4"/>
          <p:cNvSpPr/>
          <p:nvPr/>
        </p:nvSpPr>
        <p:spPr>
          <a:xfrm>
            <a:off x="713232" y="23042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658368" y="2816352"/>
            <a:ext cx="1563624" cy="731520"/>
          </a:xfrm>
          <a:prstGeom prst="rect">
            <a:avLst/>
          </a:prstGeom>
          <a:noFill/>
          <a:ln/>
        </p:spPr>
        <p:txBody>
          <a:bodyPr wrap="square" lIns="0" tIns="0" rIns="0" bIns="0" rtlCol="0" anchor="t"/>
          <a:lstStyle/>
          <a:p>
            <a:pPr marL="0" indent="0">
              <a:buNone/>
            </a:pPr>
            <a:r>
              <a:rPr lang="en-US" sz="1450" b="1" dirty="0">
                <a:solidFill>
                  <a:srgbClr val="1B2A32"/>
                </a:solidFill>
                <a:latin typeface="Calibri" pitchFamily="34" charset="0"/>
                <a:ea typeface="Calibri" pitchFamily="34" charset="-122"/>
                <a:cs typeface="Calibri" pitchFamily="34" charset="-120"/>
              </a:rPr>
              <a:t>Ingestion</a:t>
            </a:r>
            <a:endParaRPr lang="en-US" sz="1450" dirty="0"/>
          </a:p>
        </p:txBody>
      </p:sp>
      <p:sp>
        <p:nvSpPr>
          <p:cNvPr id="8" name="Text 6"/>
          <p:cNvSpPr/>
          <p:nvPr/>
        </p:nvSpPr>
        <p:spPr>
          <a:xfrm>
            <a:off x="658368" y="3474720"/>
            <a:ext cx="1563624" cy="960120"/>
          </a:xfrm>
          <a:prstGeom prst="rect">
            <a:avLst/>
          </a:prstGeom>
          <a:noFill/>
          <a:ln/>
        </p:spPr>
        <p:txBody>
          <a:bodyPr wrap="square" lIns="0" tIns="0" rIns="0" bIns="0" rtlCol="0" anchor="t"/>
          <a:lstStyle/>
          <a:p>
            <a:pPr marL="0" indent="0">
              <a:buNone/>
            </a:pPr>
            <a:r>
              <a:rPr lang="en-US" sz="1100" dirty="0">
                <a:solidFill>
                  <a:srgbClr val="5A6B73"/>
                </a:solidFill>
                <a:latin typeface="Calibri" pitchFamily="34" charset="0"/>
                <a:ea typeface="Calibri" pitchFamily="34" charset="-122"/>
                <a:cs typeface="Calibri" pitchFamily="34" charset="-120"/>
              </a:rPr>
              <a:t>Clinical document to clean text</a:t>
            </a:r>
            <a:endParaRPr lang="en-US" sz="1100" dirty="0"/>
          </a:p>
        </p:txBody>
      </p:sp>
      <p:sp>
        <p:nvSpPr>
          <p:cNvPr id="9" name="Text 7"/>
          <p:cNvSpPr/>
          <p:nvPr/>
        </p:nvSpPr>
        <p:spPr>
          <a:xfrm>
            <a:off x="2313432" y="3063240"/>
            <a:ext cx="210312" cy="548640"/>
          </a:xfrm>
          <a:prstGeom prst="rect">
            <a:avLst/>
          </a:prstGeom>
          <a:noFill/>
          <a:ln/>
        </p:spPr>
        <p:txBody>
          <a:bodyPr wrap="square" lIns="0" tIns="0" rIns="0" bIns="0" rtlCol="0" anchor="ctr"/>
          <a:lstStyle/>
          <a:p>
            <a:pPr marL="0" indent="0" algn="ctr">
              <a:buNone/>
            </a:pPr>
            <a:r>
              <a:rPr lang="en-US" sz="2000" b="1" dirty="0">
                <a:solidFill>
                  <a:srgbClr val="00A896"/>
                </a:solidFill>
                <a:latin typeface="Calibri" pitchFamily="34" charset="0"/>
                <a:ea typeface="Calibri" pitchFamily="34" charset="-122"/>
                <a:cs typeface="Calibri" pitchFamily="34" charset="-120"/>
              </a:rPr>
              <a:t>&gt;</a:t>
            </a:r>
            <a:endParaRPr lang="en-US" sz="2000" dirty="0"/>
          </a:p>
        </p:txBody>
      </p:sp>
      <p:sp>
        <p:nvSpPr>
          <p:cNvPr id="10" name="Shape 8"/>
          <p:cNvSpPr/>
          <p:nvPr/>
        </p:nvSpPr>
        <p:spPr>
          <a:xfrm>
            <a:off x="2450592" y="2103120"/>
            <a:ext cx="1783080" cy="2468880"/>
          </a:xfrm>
          <a:prstGeom prst="roundRect">
            <a:avLst>
              <a:gd name="adj" fmla="val 410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1" name="Shape 9"/>
          <p:cNvSpPr/>
          <p:nvPr/>
        </p:nvSpPr>
        <p:spPr>
          <a:xfrm>
            <a:off x="2615184" y="2304288"/>
            <a:ext cx="384048" cy="384048"/>
          </a:xfrm>
          <a:prstGeom prst="ellipse">
            <a:avLst/>
          </a:prstGeom>
          <a:solidFill>
            <a:srgbClr val="028090"/>
          </a:solidFill>
          <a:ln/>
        </p:spPr>
        <p:txBody>
          <a:bodyPr/>
          <a:lstStyle/>
          <a:p>
            <a:endParaRPr lang="es-ES"/>
          </a:p>
        </p:txBody>
      </p:sp>
      <p:sp>
        <p:nvSpPr>
          <p:cNvPr id="12" name="Text 10"/>
          <p:cNvSpPr/>
          <p:nvPr/>
        </p:nvSpPr>
        <p:spPr>
          <a:xfrm>
            <a:off x="2615184" y="23042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2560320" y="2816352"/>
            <a:ext cx="1563624" cy="731520"/>
          </a:xfrm>
          <a:prstGeom prst="rect">
            <a:avLst/>
          </a:prstGeom>
          <a:noFill/>
          <a:ln/>
        </p:spPr>
        <p:txBody>
          <a:bodyPr wrap="square" lIns="0" tIns="0" rIns="0" bIns="0" rtlCol="0" anchor="t"/>
          <a:lstStyle/>
          <a:p>
            <a:pPr marL="0" indent="0">
              <a:buNone/>
            </a:pPr>
            <a:r>
              <a:rPr lang="en-US" sz="1450" b="1" dirty="0">
                <a:solidFill>
                  <a:srgbClr val="1B2A32"/>
                </a:solidFill>
                <a:latin typeface="Calibri" pitchFamily="34" charset="0"/>
                <a:ea typeface="Calibri" pitchFamily="34" charset="-122"/>
                <a:cs typeface="Calibri" pitchFamily="34" charset="-120"/>
              </a:rPr>
              <a:t>PII Detection</a:t>
            </a:r>
            <a:endParaRPr lang="en-US" sz="1450" dirty="0"/>
          </a:p>
        </p:txBody>
      </p:sp>
      <p:sp>
        <p:nvSpPr>
          <p:cNvPr id="14" name="Text 12"/>
          <p:cNvSpPr/>
          <p:nvPr/>
        </p:nvSpPr>
        <p:spPr>
          <a:xfrm>
            <a:off x="2560320" y="3474720"/>
            <a:ext cx="1563624" cy="960120"/>
          </a:xfrm>
          <a:prstGeom prst="rect">
            <a:avLst/>
          </a:prstGeom>
          <a:noFill/>
          <a:ln/>
        </p:spPr>
        <p:txBody>
          <a:bodyPr wrap="square" lIns="0" tIns="0" rIns="0" bIns="0" rtlCol="0" anchor="t"/>
          <a:lstStyle/>
          <a:p>
            <a:pPr marL="0" indent="0">
              <a:buNone/>
            </a:pPr>
            <a:r>
              <a:rPr lang="en-US" sz="1100" dirty="0">
                <a:solidFill>
                  <a:srgbClr val="5A6B73"/>
                </a:solidFill>
                <a:latin typeface="Calibri" pitchFamily="34" charset="0"/>
                <a:ea typeface="Calibri" pitchFamily="34" charset="-122"/>
                <a:cs typeface="Calibri" pitchFamily="34" charset="-120"/>
              </a:rPr>
              <a:t>Regex + local LLM tag PII</a:t>
            </a:r>
            <a:endParaRPr lang="en-US" sz="1100" dirty="0"/>
          </a:p>
        </p:txBody>
      </p:sp>
      <p:sp>
        <p:nvSpPr>
          <p:cNvPr id="15" name="Text 13"/>
          <p:cNvSpPr/>
          <p:nvPr/>
        </p:nvSpPr>
        <p:spPr>
          <a:xfrm>
            <a:off x="4215384" y="3063240"/>
            <a:ext cx="210312" cy="548640"/>
          </a:xfrm>
          <a:prstGeom prst="rect">
            <a:avLst/>
          </a:prstGeom>
          <a:noFill/>
          <a:ln/>
        </p:spPr>
        <p:txBody>
          <a:bodyPr wrap="square" lIns="0" tIns="0" rIns="0" bIns="0" rtlCol="0" anchor="ctr"/>
          <a:lstStyle/>
          <a:p>
            <a:pPr marL="0" indent="0" algn="ctr">
              <a:buNone/>
            </a:pPr>
            <a:r>
              <a:rPr lang="en-US" sz="2000" b="1" dirty="0">
                <a:solidFill>
                  <a:srgbClr val="00A896"/>
                </a:solidFill>
                <a:latin typeface="Calibri" pitchFamily="34" charset="0"/>
                <a:ea typeface="Calibri" pitchFamily="34" charset="-122"/>
                <a:cs typeface="Calibri" pitchFamily="34" charset="-120"/>
              </a:rPr>
              <a:t>&gt;</a:t>
            </a:r>
            <a:endParaRPr lang="en-US" sz="2000" dirty="0"/>
          </a:p>
        </p:txBody>
      </p:sp>
      <p:sp>
        <p:nvSpPr>
          <p:cNvPr id="16" name="Shape 14"/>
          <p:cNvSpPr/>
          <p:nvPr/>
        </p:nvSpPr>
        <p:spPr>
          <a:xfrm>
            <a:off x="4352544" y="2103120"/>
            <a:ext cx="1783080" cy="2468880"/>
          </a:xfrm>
          <a:prstGeom prst="roundRect">
            <a:avLst>
              <a:gd name="adj" fmla="val 410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7" name="Shape 15"/>
          <p:cNvSpPr/>
          <p:nvPr/>
        </p:nvSpPr>
        <p:spPr>
          <a:xfrm>
            <a:off x="4517136" y="2304288"/>
            <a:ext cx="384048" cy="384048"/>
          </a:xfrm>
          <a:prstGeom prst="ellipse">
            <a:avLst/>
          </a:prstGeom>
          <a:solidFill>
            <a:srgbClr val="028090"/>
          </a:solidFill>
          <a:ln/>
        </p:spPr>
        <p:txBody>
          <a:bodyPr/>
          <a:lstStyle/>
          <a:p>
            <a:endParaRPr lang="es-ES"/>
          </a:p>
        </p:txBody>
      </p:sp>
      <p:sp>
        <p:nvSpPr>
          <p:cNvPr id="18" name="Text 16"/>
          <p:cNvSpPr/>
          <p:nvPr/>
        </p:nvSpPr>
        <p:spPr>
          <a:xfrm>
            <a:off x="4517136" y="23042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4462272" y="2816352"/>
            <a:ext cx="1563624" cy="731520"/>
          </a:xfrm>
          <a:prstGeom prst="rect">
            <a:avLst/>
          </a:prstGeom>
          <a:noFill/>
          <a:ln/>
        </p:spPr>
        <p:txBody>
          <a:bodyPr wrap="square" lIns="0" tIns="0" rIns="0" bIns="0" rtlCol="0" anchor="t"/>
          <a:lstStyle/>
          <a:p>
            <a:pPr marL="0" indent="0">
              <a:buNone/>
            </a:pPr>
            <a:r>
              <a:rPr lang="en-US" sz="1450" b="1" dirty="0">
                <a:solidFill>
                  <a:srgbClr val="1B2A32"/>
                </a:solidFill>
                <a:latin typeface="Calibri" pitchFamily="34" charset="0"/>
                <a:ea typeface="Calibri" pitchFamily="34" charset="-122"/>
                <a:cs typeface="Calibri" pitchFamily="34" charset="-120"/>
              </a:rPr>
              <a:t>Pseudonymization</a:t>
            </a:r>
            <a:endParaRPr lang="en-US" sz="1450" dirty="0"/>
          </a:p>
        </p:txBody>
      </p:sp>
      <p:sp>
        <p:nvSpPr>
          <p:cNvPr id="20" name="Text 18"/>
          <p:cNvSpPr/>
          <p:nvPr/>
        </p:nvSpPr>
        <p:spPr>
          <a:xfrm>
            <a:off x="4462272" y="3474720"/>
            <a:ext cx="1563624" cy="960120"/>
          </a:xfrm>
          <a:prstGeom prst="rect">
            <a:avLst/>
          </a:prstGeom>
          <a:noFill/>
          <a:ln/>
        </p:spPr>
        <p:txBody>
          <a:bodyPr wrap="square" lIns="0" tIns="0" rIns="0" bIns="0" rtlCol="0" anchor="t"/>
          <a:lstStyle/>
          <a:p>
            <a:pPr marL="0" indent="0">
              <a:buNone/>
            </a:pPr>
            <a:r>
              <a:rPr lang="en-US" sz="1100" dirty="0">
                <a:solidFill>
                  <a:srgbClr val="5A6B73"/>
                </a:solidFill>
                <a:latin typeface="Calibri" pitchFamily="34" charset="0"/>
                <a:ea typeface="Calibri" pitchFamily="34" charset="-122"/>
                <a:cs typeface="Calibri" pitchFamily="34" charset="-120"/>
              </a:rPr>
              <a:t>PII to plausible fake substitutes</a:t>
            </a:r>
            <a:endParaRPr lang="en-US" sz="1100" dirty="0"/>
          </a:p>
        </p:txBody>
      </p:sp>
      <p:sp>
        <p:nvSpPr>
          <p:cNvPr id="21" name="Text 19"/>
          <p:cNvSpPr/>
          <p:nvPr/>
        </p:nvSpPr>
        <p:spPr>
          <a:xfrm>
            <a:off x="6117336" y="3063240"/>
            <a:ext cx="210312" cy="548640"/>
          </a:xfrm>
          <a:prstGeom prst="rect">
            <a:avLst/>
          </a:prstGeom>
          <a:noFill/>
          <a:ln/>
        </p:spPr>
        <p:txBody>
          <a:bodyPr wrap="square" lIns="0" tIns="0" rIns="0" bIns="0" rtlCol="0" anchor="ctr"/>
          <a:lstStyle/>
          <a:p>
            <a:pPr marL="0" indent="0" algn="ctr">
              <a:buNone/>
            </a:pPr>
            <a:r>
              <a:rPr lang="en-US" sz="2000" b="1" dirty="0">
                <a:solidFill>
                  <a:srgbClr val="00A896"/>
                </a:solidFill>
                <a:latin typeface="Calibri" pitchFamily="34" charset="0"/>
                <a:ea typeface="Calibri" pitchFamily="34" charset="-122"/>
                <a:cs typeface="Calibri" pitchFamily="34" charset="-120"/>
              </a:rPr>
              <a:t>&gt;</a:t>
            </a:r>
            <a:endParaRPr lang="en-US" sz="2000" dirty="0"/>
          </a:p>
        </p:txBody>
      </p:sp>
      <p:sp>
        <p:nvSpPr>
          <p:cNvPr id="22" name="Shape 20"/>
          <p:cNvSpPr/>
          <p:nvPr/>
        </p:nvSpPr>
        <p:spPr>
          <a:xfrm>
            <a:off x="6254496" y="2103120"/>
            <a:ext cx="1783080" cy="2468880"/>
          </a:xfrm>
          <a:prstGeom prst="roundRect">
            <a:avLst>
              <a:gd name="adj" fmla="val 4103"/>
            </a:avLst>
          </a:prstGeom>
          <a:solidFill>
            <a:srgbClr val="0E2A38"/>
          </a:solidFill>
          <a:ln/>
          <a:effectLst>
            <a:outerShdw blurRad="88900" dist="38100" dir="5400000" algn="bl" rotWithShape="0">
              <a:srgbClr val="0E2A38">
                <a:alpha val="10000"/>
              </a:srgbClr>
            </a:outerShdw>
          </a:effectLst>
        </p:spPr>
        <p:txBody>
          <a:bodyPr/>
          <a:lstStyle/>
          <a:p>
            <a:endParaRPr lang="es-ES"/>
          </a:p>
        </p:txBody>
      </p:sp>
      <p:sp>
        <p:nvSpPr>
          <p:cNvPr id="23" name="Shape 21"/>
          <p:cNvSpPr/>
          <p:nvPr/>
        </p:nvSpPr>
        <p:spPr>
          <a:xfrm>
            <a:off x="6419088" y="2304288"/>
            <a:ext cx="384048" cy="384048"/>
          </a:xfrm>
          <a:prstGeom prst="ellipse">
            <a:avLst/>
          </a:prstGeom>
          <a:solidFill>
            <a:srgbClr val="F96167"/>
          </a:solidFill>
          <a:ln/>
        </p:spPr>
        <p:txBody>
          <a:bodyPr/>
          <a:lstStyle/>
          <a:p>
            <a:endParaRPr lang="es-ES"/>
          </a:p>
        </p:txBody>
      </p:sp>
      <p:sp>
        <p:nvSpPr>
          <p:cNvPr id="24" name="Text 22"/>
          <p:cNvSpPr/>
          <p:nvPr/>
        </p:nvSpPr>
        <p:spPr>
          <a:xfrm>
            <a:off x="6419088" y="23042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6364224" y="2816352"/>
            <a:ext cx="1563624" cy="731520"/>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External Analysis</a:t>
            </a:r>
            <a:endParaRPr lang="en-US" sz="1450" dirty="0"/>
          </a:p>
        </p:txBody>
      </p:sp>
      <p:sp>
        <p:nvSpPr>
          <p:cNvPr id="26" name="Text 24"/>
          <p:cNvSpPr/>
          <p:nvPr/>
        </p:nvSpPr>
        <p:spPr>
          <a:xfrm>
            <a:off x="6364224" y="3474720"/>
            <a:ext cx="1563624" cy="960120"/>
          </a:xfrm>
          <a:prstGeom prst="rect">
            <a:avLst/>
          </a:prstGeom>
          <a:noFill/>
          <a:ln/>
        </p:spPr>
        <p:txBody>
          <a:bodyPr wrap="square" lIns="0" tIns="0" rIns="0" bIns="0" rtlCol="0" anchor="t"/>
          <a:lstStyle/>
          <a:p>
            <a:pPr marL="0" indent="0">
              <a:buNone/>
            </a:pPr>
            <a:r>
              <a:rPr lang="en-US" sz="1100" dirty="0">
                <a:solidFill>
                  <a:srgbClr val="CADDE4"/>
                </a:solidFill>
                <a:latin typeface="Calibri" pitchFamily="34" charset="0"/>
                <a:ea typeface="Calibri" pitchFamily="34" charset="-122"/>
                <a:cs typeface="Calibri" pitchFamily="34" charset="-120"/>
              </a:rPr>
              <a:t>External LLM summarises safe text</a:t>
            </a:r>
            <a:endParaRPr lang="en-US" sz="1100" dirty="0"/>
          </a:p>
        </p:txBody>
      </p:sp>
      <p:sp>
        <p:nvSpPr>
          <p:cNvPr id="27" name="Text 25"/>
          <p:cNvSpPr/>
          <p:nvPr/>
        </p:nvSpPr>
        <p:spPr>
          <a:xfrm>
            <a:off x="8019288" y="3063240"/>
            <a:ext cx="210312" cy="548640"/>
          </a:xfrm>
          <a:prstGeom prst="rect">
            <a:avLst/>
          </a:prstGeom>
          <a:noFill/>
          <a:ln/>
        </p:spPr>
        <p:txBody>
          <a:bodyPr wrap="square" lIns="0" tIns="0" rIns="0" bIns="0" rtlCol="0" anchor="ctr"/>
          <a:lstStyle/>
          <a:p>
            <a:pPr marL="0" indent="0" algn="ctr">
              <a:buNone/>
            </a:pPr>
            <a:r>
              <a:rPr lang="en-US" sz="2000" b="1" dirty="0">
                <a:solidFill>
                  <a:srgbClr val="00A896"/>
                </a:solidFill>
                <a:latin typeface="Calibri" pitchFamily="34" charset="0"/>
                <a:ea typeface="Calibri" pitchFamily="34" charset="-122"/>
                <a:cs typeface="Calibri" pitchFamily="34" charset="-120"/>
              </a:rPr>
              <a:t>&gt;</a:t>
            </a:r>
            <a:endParaRPr lang="en-US" sz="2000" dirty="0"/>
          </a:p>
        </p:txBody>
      </p:sp>
      <p:sp>
        <p:nvSpPr>
          <p:cNvPr id="28" name="Shape 26"/>
          <p:cNvSpPr/>
          <p:nvPr/>
        </p:nvSpPr>
        <p:spPr>
          <a:xfrm>
            <a:off x="8156448" y="2103120"/>
            <a:ext cx="1783080" cy="2468880"/>
          </a:xfrm>
          <a:prstGeom prst="roundRect">
            <a:avLst>
              <a:gd name="adj" fmla="val 410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29" name="Shape 27"/>
          <p:cNvSpPr/>
          <p:nvPr/>
        </p:nvSpPr>
        <p:spPr>
          <a:xfrm>
            <a:off x="8321040" y="2304288"/>
            <a:ext cx="384048" cy="384048"/>
          </a:xfrm>
          <a:prstGeom prst="ellipse">
            <a:avLst/>
          </a:prstGeom>
          <a:solidFill>
            <a:srgbClr val="028090"/>
          </a:solidFill>
          <a:ln/>
        </p:spPr>
        <p:txBody>
          <a:bodyPr/>
          <a:lstStyle/>
          <a:p>
            <a:endParaRPr lang="es-ES"/>
          </a:p>
        </p:txBody>
      </p:sp>
      <p:sp>
        <p:nvSpPr>
          <p:cNvPr id="30" name="Text 28"/>
          <p:cNvSpPr/>
          <p:nvPr/>
        </p:nvSpPr>
        <p:spPr>
          <a:xfrm>
            <a:off x="8321040" y="23042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9"/>
          <p:cNvSpPr/>
          <p:nvPr/>
        </p:nvSpPr>
        <p:spPr>
          <a:xfrm>
            <a:off x="8266176" y="2816352"/>
            <a:ext cx="1563624" cy="731520"/>
          </a:xfrm>
          <a:prstGeom prst="rect">
            <a:avLst/>
          </a:prstGeom>
          <a:noFill/>
          <a:ln/>
        </p:spPr>
        <p:txBody>
          <a:bodyPr wrap="square" lIns="0" tIns="0" rIns="0" bIns="0" rtlCol="0" anchor="t"/>
          <a:lstStyle/>
          <a:p>
            <a:pPr marL="0" indent="0">
              <a:buNone/>
            </a:pPr>
            <a:r>
              <a:rPr lang="en-US" sz="1450" b="1" dirty="0">
                <a:solidFill>
                  <a:srgbClr val="1B2A32"/>
                </a:solidFill>
                <a:latin typeface="Calibri" pitchFamily="34" charset="0"/>
                <a:ea typeface="Calibri" pitchFamily="34" charset="-122"/>
                <a:cs typeface="Calibri" pitchFamily="34" charset="-120"/>
              </a:rPr>
              <a:t>De-pseudonymization</a:t>
            </a:r>
            <a:endParaRPr lang="en-US" sz="1450" dirty="0"/>
          </a:p>
        </p:txBody>
      </p:sp>
      <p:sp>
        <p:nvSpPr>
          <p:cNvPr id="32" name="Text 30"/>
          <p:cNvSpPr/>
          <p:nvPr/>
        </p:nvSpPr>
        <p:spPr>
          <a:xfrm>
            <a:off x="8266176" y="3474720"/>
            <a:ext cx="1563624" cy="960120"/>
          </a:xfrm>
          <a:prstGeom prst="rect">
            <a:avLst/>
          </a:prstGeom>
          <a:noFill/>
          <a:ln/>
        </p:spPr>
        <p:txBody>
          <a:bodyPr wrap="square" lIns="0" tIns="0" rIns="0" bIns="0" rtlCol="0" anchor="t"/>
          <a:lstStyle/>
          <a:p>
            <a:pPr marL="0" indent="0">
              <a:buNone/>
            </a:pPr>
            <a:r>
              <a:rPr lang="en-US" sz="1100" dirty="0">
                <a:solidFill>
                  <a:srgbClr val="5A6B73"/>
                </a:solidFill>
                <a:latin typeface="Calibri" pitchFamily="34" charset="0"/>
                <a:ea typeface="Calibri" pitchFamily="34" charset="-122"/>
                <a:cs typeface="Calibri" pitchFamily="34" charset="-120"/>
              </a:rPr>
              <a:t>Real values are restored</a:t>
            </a:r>
            <a:endParaRPr lang="en-US" sz="1100" dirty="0"/>
          </a:p>
        </p:txBody>
      </p:sp>
      <p:sp>
        <p:nvSpPr>
          <p:cNvPr id="33" name="Text 31"/>
          <p:cNvSpPr/>
          <p:nvPr/>
        </p:nvSpPr>
        <p:spPr>
          <a:xfrm>
            <a:off x="9921240" y="3063240"/>
            <a:ext cx="210312" cy="548640"/>
          </a:xfrm>
          <a:prstGeom prst="rect">
            <a:avLst/>
          </a:prstGeom>
          <a:noFill/>
          <a:ln/>
        </p:spPr>
        <p:txBody>
          <a:bodyPr wrap="square" lIns="0" tIns="0" rIns="0" bIns="0" rtlCol="0" anchor="ctr"/>
          <a:lstStyle/>
          <a:p>
            <a:pPr marL="0" indent="0" algn="ctr">
              <a:buNone/>
            </a:pPr>
            <a:r>
              <a:rPr lang="en-US" sz="2000" b="1" dirty="0">
                <a:solidFill>
                  <a:srgbClr val="00A896"/>
                </a:solidFill>
                <a:latin typeface="Calibri" pitchFamily="34" charset="0"/>
                <a:ea typeface="Calibri" pitchFamily="34" charset="-122"/>
                <a:cs typeface="Calibri" pitchFamily="34" charset="-120"/>
              </a:rPr>
              <a:t>&gt;</a:t>
            </a:r>
            <a:endParaRPr lang="en-US" sz="2000" dirty="0"/>
          </a:p>
        </p:txBody>
      </p:sp>
      <p:sp>
        <p:nvSpPr>
          <p:cNvPr id="34" name="Shape 32"/>
          <p:cNvSpPr/>
          <p:nvPr/>
        </p:nvSpPr>
        <p:spPr>
          <a:xfrm>
            <a:off x="10058400" y="2103120"/>
            <a:ext cx="1783080" cy="2468880"/>
          </a:xfrm>
          <a:prstGeom prst="roundRect">
            <a:avLst>
              <a:gd name="adj" fmla="val 410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35" name="Shape 33"/>
          <p:cNvSpPr/>
          <p:nvPr/>
        </p:nvSpPr>
        <p:spPr>
          <a:xfrm>
            <a:off x="10222992" y="2304288"/>
            <a:ext cx="384048" cy="384048"/>
          </a:xfrm>
          <a:prstGeom prst="ellipse">
            <a:avLst/>
          </a:prstGeom>
          <a:solidFill>
            <a:srgbClr val="028090"/>
          </a:solidFill>
          <a:ln/>
        </p:spPr>
        <p:txBody>
          <a:bodyPr/>
          <a:lstStyle/>
          <a:p>
            <a:endParaRPr lang="es-ES"/>
          </a:p>
        </p:txBody>
      </p:sp>
      <p:sp>
        <p:nvSpPr>
          <p:cNvPr id="36" name="Text 34"/>
          <p:cNvSpPr/>
          <p:nvPr/>
        </p:nvSpPr>
        <p:spPr>
          <a:xfrm>
            <a:off x="10222992" y="23042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5"/>
          <p:cNvSpPr/>
          <p:nvPr/>
        </p:nvSpPr>
        <p:spPr>
          <a:xfrm>
            <a:off x="10168128" y="2816352"/>
            <a:ext cx="1563624" cy="731520"/>
          </a:xfrm>
          <a:prstGeom prst="rect">
            <a:avLst/>
          </a:prstGeom>
          <a:noFill/>
          <a:ln/>
        </p:spPr>
        <p:txBody>
          <a:bodyPr wrap="square" lIns="0" tIns="0" rIns="0" bIns="0" rtlCol="0" anchor="t"/>
          <a:lstStyle/>
          <a:p>
            <a:pPr marL="0" indent="0">
              <a:buNone/>
            </a:pPr>
            <a:r>
              <a:rPr lang="en-US" sz="1450" b="1" dirty="0">
                <a:solidFill>
                  <a:srgbClr val="1B2A32"/>
                </a:solidFill>
                <a:latin typeface="Calibri" pitchFamily="34" charset="0"/>
                <a:ea typeface="Calibri" pitchFamily="34" charset="-122"/>
                <a:cs typeface="Calibri" pitchFamily="34" charset="-120"/>
              </a:rPr>
              <a:t>Evaluation</a:t>
            </a:r>
            <a:endParaRPr lang="en-US" sz="1450" dirty="0"/>
          </a:p>
        </p:txBody>
      </p:sp>
      <p:sp>
        <p:nvSpPr>
          <p:cNvPr id="38" name="Text 36"/>
          <p:cNvSpPr/>
          <p:nvPr/>
        </p:nvSpPr>
        <p:spPr>
          <a:xfrm>
            <a:off x="10168128" y="3474720"/>
            <a:ext cx="1563624" cy="960120"/>
          </a:xfrm>
          <a:prstGeom prst="rect">
            <a:avLst/>
          </a:prstGeom>
          <a:noFill/>
          <a:ln/>
        </p:spPr>
        <p:txBody>
          <a:bodyPr wrap="square" lIns="0" tIns="0" rIns="0" bIns="0" rtlCol="0" anchor="t"/>
          <a:lstStyle/>
          <a:p>
            <a:pPr marL="0" indent="0">
              <a:buNone/>
            </a:pPr>
            <a:r>
              <a:rPr lang="en-US" sz="1100" dirty="0">
                <a:solidFill>
                  <a:srgbClr val="5A6B73"/>
                </a:solidFill>
                <a:latin typeface="Calibri" pitchFamily="34" charset="0"/>
                <a:ea typeface="Calibri" pitchFamily="34" charset="-122"/>
                <a:cs typeface="Calibri" pitchFamily="34" charset="-120"/>
              </a:rPr>
              <a:t>Precision / Recall / F1</a:t>
            </a:r>
            <a:endParaRPr lang="en-US" sz="1100" dirty="0"/>
          </a:p>
        </p:txBody>
      </p:sp>
      <p:sp>
        <p:nvSpPr>
          <p:cNvPr id="39" name="Shape 37"/>
          <p:cNvSpPr/>
          <p:nvPr/>
        </p:nvSpPr>
        <p:spPr>
          <a:xfrm>
            <a:off x="548640" y="4983480"/>
            <a:ext cx="11064240" cy="1051560"/>
          </a:xfrm>
          <a:prstGeom prst="roundRect">
            <a:avLst>
              <a:gd name="adj" fmla="val 6957"/>
            </a:avLst>
          </a:prstGeom>
          <a:solidFill>
            <a:srgbClr val="E7F3F4"/>
          </a:solidFill>
          <a:ln/>
          <a:effectLst>
            <a:outerShdw blurRad="88900" dist="38100" dir="5400000" algn="bl" rotWithShape="0">
              <a:srgbClr val="0E2A38">
                <a:alpha val="10000"/>
              </a:srgbClr>
            </a:outerShdw>
          </a:effectLst>
        </p:spPr>
        <p:txBody>
          <a:bodyPr/>
          <a:lstStyle/>
          <a:p>
            <a:endParaRPr lang="es-ES"/>
          </a:p>
        </p:txBody>
      </p:sp>
      <p:sp>
        <p:nvSpPr>
          <p:cNvPr id="40" name="Text 38"/>
          <p:cNvSpPr/>
          <p:nvPr/>
        </p:nvSpPr>
        <p:spPr>
          <a:xfrm>
            <a:off x="868680" y="5120640"/>
            <a:ext cx="10424160" cy="777240"/>
          </a:xfrm>
          <a:prstGeom prst="rect">
            <a:avLst/>
          </a:prstGeom>
          <a:noFill/>
          <a:ln/>
        </p:spPr>
        <p:txBody>
          <a:bodyPr wrap="square" lIns="0" tIns="0" rIns="0" bIns="0" rtlCol="0" anchor="ctr"/>
          <a:lstStyle/>
          <a:p>
            <a:pPr marL="0" indent="0">
              <a:buNone/>
            </a:pPr>
            <a:r>
              <a:rPr lang="en-US" sz="1400" b="1" dirty="0">
                <a:solidFill>
                  <a:srgbClr val="028090"/>
                </a:solidFill>
                <a:latin typeface="Calibri" pitchFamily="34" charset="0"/>
                <a:ea typeface="Calibri" pitchFamily="34" charset="-122"/>
                <a:cs typeface="Calibri" pitchFamily="34" charset="-120"/>
              </a:rPr>
              <a:t> </a:t>
            </a:r>
            <a:r>
              <a:rPr lang="en-US" sz="1400" dirty="0">
                <a:solidFill>
                  <a:srgbClr val="1B2A32"/>
                </a:solidFill>
                <a:latin typeface="Calibri" pitchFamily="34" charset="0"/>
                <a:ea typeface="Calibri" pitchFamily="34" charset="-122"/>
                <a:cs typeface="Calibri" pitchFamily="34" charset="-120"/>
              </a:rPr>
              <a:t>stages 1-3, 5 and 6 run locally. Only the </a:t>
            </a:r>
            <a:r>
              <a:rPr lang="en-US" sz="1400" b="1" dirty="0">
                <a:solidFill>
                  <a:srgbClr val="1B2A32"/>
                </a:solidFill>
                <a:latin typeface="Calibri" pitchFamily="34" charset="0"/>
                <a:ea typeface="Calibri" pitchFamily="34" charset="-122"/>
                <a:cs typeface="Calibri" pitchFamily="34" charset="-120"/>
              </a:rPr>
              <a:t>already-pseudonymized</a:t>
            </a:r>
            <a:r>
              <a:rPr lang="en-US" sz="1400" dirty="0">
                <a:solidFill>
                  <a:srgbClr val="1B2A32"/>
                </a:solidFill>
                <a:latin typeface="Calibri" pitchFamily="34" charset="0"/>
                <a:ea typeface="Calibri" pitchFamily="34" charset="-122"/>
                <a:cs typeface="Calibri" pitchFamily="34" charset="-120"/>
              </a:rPr>
              <a:t> text crosses to the external provider in stage 4.</a:t>
            </a:r>
            <a:endParaRPr lang="en-US" sz="1400" dirty="0"/>
          </a:p>
        </p:txBody>
      </p:sp>
      <p:sp>
        <p:nvSpPr>
          <p:cNvPr id="41" name="Text 39"/>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5A6B73"/>
                </a:solidFill>
                <a:latin typeface="Calibri" pitchFamily="34" charset="0"/>
                <a:ea typeface="Calibri" pitchFamily="34" charset="-122"/>
                <a:cs typeface="Calibri"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028090"/>
                </a:solidFill>
                <a:latin typeface="Calibri" pitchFamily="34" charset="0"/>
                <a:ea typeface="Calibri" pitchFamily="34" charset="-122"/>
                <a:cs typeface="Calibri" pitchFamily="34" charset="-120"/>
              </a:rPr>
              <a:t>IMPLEMENTATION</a:t>
            </a: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t"/>
          <a:lstStyle/>
          <a:p>
            <a:pPr marL="0" indent="0">
              <a:buNone/>
            </a:pPr>
            <a:r>
              <a:rPr lang="en-US" sz="3000" b="1" dirty="0">
                <a:solidFill>
                  <a:srgbClr val="1B2A32"/>
                </a:solidFill>
                <a:latin typeface="Cambria" pitchFamily="34" charset="0"/>
                <a:ea typeface="Cambria" pitchFamily="34" charset="-122"/>
                <a:cs typeface="Cambria" pitchFamily="34" charset="-120"/>
              </a:rPr>
              <a:t>Architecture: which model does what</a:t>
            </a:r>
            <a:endParaRPr lang="en-US" sz="3000" dirty="0"/>
          </a:p>
        </p:txBody>
      </p:sp>
      <p:sp>
        <p:nvSpPr>
          <p:cNvPr id="4" name="Shape 2"/>
          <p:cNvSpPr/>
          <p:nvPr/>
        </p:nvSpPr>
        <p:spPr>
          <a:xfrm>
            <a:off x="548640" y="1600200"/>
            <a:ext cx="5669280" cy="3657600"/>
          </a:xfrm>
          <a:prstGeom prst="roundRect">
            <a:avLst>
              <a:gd name="adj" fmla="val 200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5" name="Text 3"/>
          <p:cNvSpPr/>
          <p:nvPr/>
        </p:nvSpPr>
        <p:spPr>
          <a:xfrm>
            <a:off x="868680" y="1828800"/>
            <a:ext cx="5120640" cy="320040"/>
          </a:xfrm>
          <a:prstGeom prst="rect">
            <a:avLst/>
          </a:prstGeom>
          <a:noFill/>
          <a:ln/>
        </p:spPr>
        <p:txBody>
          <a:bodyPr wrap="square" lIns="0" tIns="0" rIns="0" bIns="0" rtlCol="0" anchor="ctr"/>
          <a:lstStyle/>
          <a:p>
            <a:pPr marL="0" indent="0">
              <a:buNone/>
            </a:pPr>
            <a:r>
              <a:rPr lang="en-US" sz="1300" b="1" kern="0" spc="150" dirty="0">
                <a:solidFill>
                  <a:srgbClr val="028090"/>
                </a:solidFill>
                <a:latin typeface="Calibri" pitchFamily="34" charset="0"/>
                <a:ea typeface="Calibri" pitchFamily="34" charset="-122"/>
                <a:cs typeface="Calibri" pitchFamily="34" charset="-120"/>
              </a:rPr>
              <a:t>LOCAL ENVIRONMENT  ·  real data</a:t>
            </a:r>
            <a:endParaRPr lang="en-US" sz="1300" dirty="0"/>
          </a:p>
        </p:txBody>
      </p:sp>
      <p:sp>
        <p:nvSpPr>
          <p:cNvPr id="6" name="Text 4"/>
          <p:cNvSpPr/>
          <p:nvPr/>
        </p:nvSpPr>
        <p:spPr>
          <a:xfrm>
            <a:off x="868680" y="2121408"/>
            <a:ext cx="5029200" cy="3017520"/>
          </a:xfrm>
          <a:prstGeom prst="rect">
            <a:avLst/>
          </a:prstGeom>
          <a:noFill/>
          <a:ln/>
        </p:spPr>
        <p:txBody>
          <a:bodyPr wrap="square" lIns="0" tIns="0" rIns="0" bIns="0" rtlCol="0" anchor="t"/>
          <a:lstStyle/>
          <a:p>
            <a:pPr marL="0" indent="0">
              <a:lnSpc>
                <a:spcPct val="100000"/>
              </a:lnSpc>
              <a:buNone/>
            </a:pPr>
            <a:r>
              <a:rPr lang="en-US" sz="1450" b="1" dirty="0">
                <a:solidFill>
                  <a:srgbClr val="1B2A32"/>
                </a:solidFill>
                <a:latin typeface="Calibri" pitchFamily="34" charset="0"/>
                <a:ea typeface="Calibri" pitchFamily="34" charset="-122"/>
                <a:cs typeface="Calibri" pitchFamily="34" charset="-120"/>
              </a:rPr>
              <a:t>PII Detector - AI Agent (n8n)
</a:t>
            </a:r>
            <a:endParaRPr lang="en-US" sz="1450" dirty="0"/>
          </a:p>
          <a:p>
            <a:pPr marL="0" indent="0">
              <a:lnSpc>
                <a:spcPct val="100000"/>
              </a:lnSpc>
              <a:buNone/>
            </a:pPr>
            <a:r>
              <a:rPr lang="en-US" sz="1250" dirty="0">
                <a:solidFill>
                  <a:srgbClr val="5A6B73"/>
                </a:solidFill>
                <a:latin typeface="Calibri" pitchFamily="34" charset="0"/>
                <a:ea typeface="Calibri" pitchFamily="34" charset="-122"/>
                <a:cs typeface="Calibri" pitchFamily="34" charset="-120"/>
              </a:rPr>
              <a:t>Model:  Ollama · mistral:latest (Mistral 7B)
</a:t>
            </a:r>
            <a:endParaRPr lang="en-US" sz="1450" dirty="0"/>
          </a:p>
          <a:p>
            <a:pPr marL="0" indent="0">
              <a:lnSpc>
                <a:spcPct val="100000"/>
              </a:lnSpc>
              <a:buNone/>
            </a:pPr>
            <a:r>
              <a:rPr lang="en-US" sz="1150" i="1" dirty="0">
                <a:solidFill>
                  <a:srgbClr val="5A6B73"/>
                </a:solidFill>
                <a:latin typeface="Calibri" pitchFamily="34" charset="0"/>
                <a:ea typeface="Calibri" pitchFamily="34" charset="-122"/>
                <a:cs typeface="Calibri" pitchFamily="34" charset="-120"/>
              </a:rPr>
              <a:t>Local base URL (host.docker.internal:11434)
</a:t>
            </a:r>
            <a:endParaRPr lang="en-US" sz="1450" dirty="0"/>
          </a:p>
          <a:p>
            <a:pPr marL="0" indent="0">
              <a:lnSpc>
                <a:spcPct val="100000"/>
              </a:lnSpc>
              <a:buNone/>
            </a:pPr>
            <a:r>
              <a:rPr lang="en-US" sz="700" dirty="0">
                <a:solidFill>
                  <a:srgbClr val="000000"/>
                </a:solidFill>
                <a:latin typeface="Calibri" pitchFamily="34" charset="0"/>
                <a:ea typeface="Calibri" pitchFamily="34" charset="-122"/>
                <a:cs typeface="Calibri" pitchFamily="34" charset="-120"/>
              </a:rPr>
              <a:t>
</a:t>
            </a:r>
            <a:endParaRPr lang="en-US" sz="1450" dirty="0"/>
          </a:p>
          <a:p>
            <a:pPr marL="0" indent="0">
              <a:lnSpc>
                <a:spcPct val="100000"/>
              </a:lnSpc>
              <a:buNone/>
            </a:pPr>
            <a:r>
              <a:rPr lang="en-US" sz="1450" b="1" dirty="0">
                <a:solidFill>
                  <a:srgbClr val="1B2A32"/>
                </a:solidFill>
                <a:latin typeface="Calibri" pitchFamily="34" charset="0"/>
                <a:ea typeface="Calibri" pitchFamily="34" charset="-122"/>
                <a:cs typeface="Calibri" pitchFamily="34" charset="-120"/>
              </a:rPr>
              <a:t>Regex pre-pass (German clinical)
</a:t>
            </a:r>
            <a:endParaRPr lang="en-US" sz="1450" dirty="0"/>
          </a:p>
          <a:p>
            <a:pPr marL="0" indent="0">
              <a:lnSpc>
                <a:spcPct val="100000"/>
              </a:lnSpc>
              <a:buNone/>
            </a:pPr>
            <a:r>
              <a:rPr lang="en-US" sz="1250" dirty="0">
                <a:solidFill>
                  <a:srgbClr val="5A6B73"/>
                </a:solidFill>
                <a:latin typeface="Calibri" pitchFamily="34" charset="0"/>
                <a:ea typeface="Calibri" pitchFamily="34" charset="-122"/>
                <a:cs typeface="Calibri" pitchFamily="34" charset="-120"/>
              </a:rPr>
              <a:t>Dates, ages, IDs, addresses, titled names and physician signatures.
</a:t>
            </a:r>
            <a:endParaRPr lang="en-US" sz="1450" dirty="0"/>
          </a:p>
          <a:p>
            <a:pPr marL="0" indent="0">
              <a:lnSpc>
                <a:spcPct val="100000"/>
              </a:lnSpc>
              <a:buNone/>
            </a:pPr>
            <a:r>
              <a:rPr lang="en-US" sz="700" dirty="0">
                <a:solidFill>
                  <a:srgbClr val="000000"/>
                </a:solidFill>
                <a:latin typeface="Calibri" pitchFamily="34" charset="0"/>
                <a:ea typeface="Calibri" pitchFamily="34" charset="-122"/>
                <a:cs typeface="Calibri" pitchFamily="34" charset="-120"/>
              </a:rPr>
              <a:t>
</a:t>
            </a:r>
            <a:endParaRPr lang="en-US" sz="1450" dirty="0"/>
          </a:p>
          <a:p>
            <a:pPr marL="0" indent="0">
              <a:lnSpc>
                <a:spcPct val="100000"/>
              </a:lnSpc>
              <a:buNone/>
            </a:pPr>
            <a:r>
              <a:rPr lang="en-US" sz="1450" b="1" dirty="0">
                <a:solidFill>
                  <a:srgbClr val="1B2A32"/>
                </a:solidFill>
                <a:latin typeface="Calibri" pitchFamily="34" charset="0"/>
                <a:ea typeface="Calibri" pitchFamily="34" charset="-122"/>
                <a:cs typeface="Calibri" pitchFamily="34" charset="-120"/>
              </a:rPr>
              <a:t>Pseudonymization + restoration
</a:t>
            </a:r>
            <a:endParaRPr lang="en-US" sz="1450" dirty="0"/>
          </a:p>
          <a:p>
            <a:pPr marL="0" indent="0">
              <a:lnSpc>
                <a:spcPct val="100000"/>
              </a:lnSpc>
              <a:buNone/>
            </a:pPr>
            <a:r>
              <a:rPr lang="en-US" sz="1250" dirty="0">
                <a:solidFill>
                  <a:srgbClr val="5A6B73"/>
                </a:solidFill>
                <a:latin typeface="Calibri" pitchFamily="34" charset="0"/>
                <a:ea typeface="Calibri" pitchFamily="34" charset="-122"/>
                <a:cs typeface="Calibri" pitchFamily="34" charset="-120"/>
              </a:rPr>
              <a:t>In-memory dictionary; never persisted to disk.</a:t>
            </a:r>
            <a:endParaRPr lang="en-US" sz="1450" dirty="0"/>
          </a:p>
        </p:txBody>
      </p:sp>
      <p:sp>
        <p:nvSpPr>
          <p:cNvPr id="7" name="Shape 5"/>
          <p:cNvSpPr/>
          <p:nvPr/>
        </p:nvSpPr>
        <p:spPr>
          <a:xfrm>
            <a:off x="6394269" y="2382105"/>
            <a:ext cx="822960" cy="640080"/>
          </a:xfrm>
          <a:prstGeom prst="rightArrow">
            <a:avLst/>
          </a:prstGeom>
          <a:solidFill>
            <a:srgbClr val="00A896"/>
          </a:solidFill>
          <a:ln/>
        </p:spPr>
        <p:txBody>
          <a:bodyPr/>
          <a:lstStyle/>
          <a:p>
            <a:endParaRPr lang="es-ES"/>
          </a:p>
        </p:txBody>
      </p:sp>
      <p:sp>
        <p:nvSpPr>
          <p:cNvPr id="8" name="Text 6"/>
          <p:cNvSpPr/>
          <p:nvPr/>
        </p:nvSpPr>
        <p:spPr>
          <a:xfrm>
            <a:off x="5989320" y="1988820"/>
            <a:ext cx="1554480" cy="548640"/>
          </a:xfrm>
          <a:prstGeom prst="rect">
            <a:avLst/>
          </a:prstGeom>
          <a:noFill/>
          <a:ln/>
        </p:spPr>
        <p:txBody>
          <a:bodyPr wrap="square" lIns="0" tIns="0" rIns="0" bIns="0" rtlCol="0" anchor="ctr"/>
          <a:lstStyle/>
          <a:p>
            <a:pPr marL="0" indent="0" algn="ctr">
              <a:buNone/>
            </a:pPr>
            <a:r>
              <a:rPr lang="en-US" sz="950" dirty="0">
                <a:solidFill>
                  <a:srgbClr val="5A6B73"/>
                </a:solidFill>
                <a:latin typeface="Calibri" pitchFamily="34" charset="0"/>
                <a:ea typeface="Calibri" pitchFamily="34" charset="-122"/>
                <a:cs typeface="Calibri" pitchFamily="34" charset="-120"/>
              </a:rPr>
              <a:t>pseudonymized</a:t>
            </a:r>
            <a:endParaRPr lang="en-US" sz="950" dirty="0"/>
          </a:p>
          <a:p>
            <a:pPr marL="0" indent="0" algn="ctr">
              <a:buNone/>
            </a:pPr>
            <a:r>
              <a:rPr lang="en-US" sz="950" dirty="0">
                <a:solidFill>
                  <a:srgbClr val="5A6B73"/>
                </a:solidFill>
                <a:latin typeface="Calibri" pitchFamily="34" charset="0"/>
                <a:ea typeface="Calibri" pitchFamily="34" charset="-122"/>
                <a:cs typeface="Calibri" pitchFamily="34" charset="-120"/>
              </a:rPr>
              <a:t>text</a:t>
            </a:r>
            <a:endParaRPr lang="en-US" sz="950" dirty="0"/>
          </a:p>
        </p:txBody>
      </p:sp>
      <p:sp>
        <p:nvSpPr>
          <p:cNvPr id="9" name="Text 7"/>
          <p:cNvSpPr/>
          <p:nvPr/>
        </p:nvSpPr>
        <p:spPr>
          <a:xfrm>
            <a:off x="5989320" y="3840480"/>
            <a:ext cx="1554480" cy="548640"/>
          </a:xfrm>
          <a:prstGeom prst="rect">
            <a:avLst/>
          </a:prstGeom>
          <a:noFill/>
          <a:ln/>
        </p:spPr>
        <p:txBody>
          <a:bodyPr wrap="square" lIns="0" tIns="0" rIns="0" bIns="0" rtlCol="0" anchor="ctr"/>
          <a:lstStyle/>
          <a:p>
            <a:pPr marL="0" indent="0" algn="ctr">
              <a:buNone/>
            </a:pPr>
            <a:r>
              <a:rPr lang="en-US" sz="950" dirty="0">
                <a:solidFill>
                  <a:srgbClr val="5A6B73"/>
                </a:solidFill>
                <a:latin typeface="Calibri" pitchFamily="34" charset="0"/>
                <a:ea typeface="Calibri" pitchFamily="34" charset="-122"/>
                <a:cs typeface="Calibri" pitchFamily="34" charset="-120"/>
              </a:rPr>
              <a:t>analysis</a:t>
            </a:r>
            <a:endParaRPr lang="en-US" sz="950" dirty="0"/>
          </a:p>
          <a:p>
            <a:pPr marL="0" indent="0" algn="ctr">
              <a:buNone/>
            </a:pPr>
            <a:r>
              <a:rPr lang="en-US" sz="950" dirty="0">
                <a:solidFill>
                  <a:srgbClr val="5A6B73"/>
                </a:solidFill>
                <a:latin typeface="Calibri" pitchFamily="34" charset="0"/>
                <a:ea typeface="Calibri" pitchFamily="34" charset="-122"/>
                <a:cs typeface="Calibri" pitchFamily="34" charset="-120"/>
              </a:rPr>
              <a:t>returned</a:t>
            </a:r>
            <a:endParaRPr lang="en-US" sz="950" dirty="0"/>
          </a:p>
        </p:txBody>
      </p:sp>
      <p:sp>
        <p:nvSpPr>
          <p:cNvPr id="10" name="Shape 8"/>
          <p:cNvSpPr/>
          <p:nvPr/>
        </p:nvSpPr>
        <p:spPr>
          <a:xfrm>
            <a:off x="7360920" y="1600200"/>
            <a:ext cx="4251960" cy="3657600"/>
          </a:xfrm>
          <a:prstGeom prst="roundRect">
            <a:avLst>
              <a:gd name="adj" fmla="val 2000"/>
            </a:avLst>
          </a:prstGeom>
          <a:solidFill>
            <a:srgbClr val="0E2A38"/>
          </a:solidFill>
          <a:ln/>
          <a:effectLst>
            <a:outerShdw blurRad="88900" dist="38100" dir="5400000" algn="bl" rotWithShape="0">
              <a:srgbClr val="0E2A38">
                <a:alpha val="10000"/>
              </a:srgbClr>
            </a:outerShdw>
          </a:effectLst>
        </p:spPr>
        <p:txBody>
          <a:bodyPr/>
          <a:lstStyle/>
          <a:p>
            <a:endParaRPr lang="es-ES"/>
          </a:p>
        </p:txBody>
      </p:sp>
      <p:sp>
        <p:nvSpPr>
          <p:cNvPr id="11" name="Text 9"/>
          <p:cNvSpPr/>
          <p:nvPr/>
        </p:nvSpPr>
        <p:spPr>
          <a:xfrm>
            <a:off x="7680960" y="1828800"/>
            <a:ext cx="3749040" cy="457200"/>
          </a:xfrm>
          <a:prstGeom prst="rect">
            <a:avLst/>
          </a:prstGeom>
          <a:noFill/>
          <a:ln/>
        </p:spPr>
        <p:txBody>
          <a:bodyPr wrap="square" lIns="0" tIns="0" rIns="0" bIns="0" rtlCol="0" anchor="t"/>
          <a:lstStyle/>
          <a:p>
            <a:pPr marL="0" indent="0">
              <a:buNone/>
            </a:pPr>
            <a:r>
              <a:rPr lang="en-US" sz="1250" b="1" kern="0" spc="100" dirty="0">
                <a:solidFill>
                  <a:srgbClr val="02C39A"/>
                </a:solidFill>
                <a:latin typeface="Calibri" pitchFamily="34" charset="0"/>
                <a:ea typeface="Calibri" pitchFamily="34" charset="-122"/>
                <a:cs typeface="Calibri" pitchFamily="34" charset="-120"/>
              </a:rPr>
              <a:t>EXTERNAL PROVIDER  ·  fake data only</a:t>
            </a:r>
            <a:endParaRPr lang="en-US" sz="1250" dirty="0"/>
          </a:p>
        </p:txBody>
      </p:sp>
      <p:sp>
        <p:nvSpPr>
          <p:cNvPr id="12" name="Text 10"/>
          <p:cNvSpPr/>
          <p:nvPr/>
        </p:nvSpPr>
        <p:spPr>
          <a:xfrm>
            <a:off x="7680960" y="2331720"/>
            <a:ext cx="3611880" cy="2743200"/>
          </a:xfrm>
          <a:prstGeom prst="rect">
            <a:avLst/>
          </a:prstGeom>
          <a:noFill/>
          <a:ln/>
        </p:spPr>
        <p:txBody>
          <a:bodyPr wrap="square" lIns="0" tIns="0" rIns="0" bIns="0" rtlCol="0" anchor="t"/>
          <a:lstStyle/>
          <a:p>
            <a:pPr marL="0" indent="0">
              <a:lnSpc>
                <a:spcPct val="100000"/>
              </a:lnSpc>
              <a:buNone/>
            </a:pPr>
            <a:r>
              <a:rPr lang="en-US" sz="1500" b="1" dirty="0">
                <a:solidFill>
                  <a:srgbClr val="FFFFFF"/>
                </a:solidFill>
                <a:latin typeface="Calibri" pitchFamily="34" charset="0"/>
                <a:ea typeface="Calibri" pitchFamily="34" charset="-122"/>
                <a:cs typeface="Calibri" pitchFamily="34" charset="-120"/>
              </a:rPr>
              <a:t>Clinical analyst - AI Agent1 (n8n)
</a:t>
            </a:r>
            <a:endParaRPr lang="en-US" sz="1500" dirty="0"/>
          </a:p>
          <a:p>
            <a:pPr marL="0" indent="0">
              <a:lnSpc>
                <a:spcPct val="100000"/>
              </a:lnSpc>
              <a:buNone/>
            </a:pPr>
            <a:r>
              <a:rPr lang="en-US" sz="1300" dirty="0">
                <a:solidFill>
                  <a:srgbClr val="CADDE4"/>
                </a:solidFill>
                <a:latin typeface="Calibri" pitchFamily="34" charset="0"/>
                <a:ea typeface="Calibri" pitchFamily="34" charset="-122"/>
                <a:cs typeface="Calibri" pitchFamily="34" charset="-120"/>
              </a:rPr>
              <a:t>Model:  Mistral Cloud (La Plateforme)
</a:t>
            </a:r>
            <a:endParaRPr lang="en-US" sz="1500" dirty="0"/>
          </a:p>
          <a:p>
            <a:pPr marL="0" indent="0">
              <a:lnSpc>
                <a:spcPct val="100000"/>
              </a:lnSpc>
              <a:buNone/>
            </a:pPr>
            <a:r>
              <a:rPr lang="en-US" sz="1200" i="1" dirty="0">
                <a:solidFill>
                  <a:srgbClr val="9FB8C2"/>
                </a:solidFill>
                <a:latin typeface="Calibri" pitchFamily="34" charset="0"/>
                <a:ea typeface="Calibri" pitchFamily="34" charset="-122"/>
                <a:cs typeface="Calibri" pitchFamily="34" charset="-120"/>
              </a:rPr>
              <a:t>OpenAI-compatible endpoint
</a:t>
            </a:r>
            <a:endParaRPr lang="en-US" sz="1500" dirty="0"/>
          </a:p>
          <a:p>
            <a:pPr marL="0" indent="0">
              <a:lnSpc>
                <a:spcPct val="100000"/>
              </a:lnSpc>
              <a:buNone/>
            </a:pPr>
            <a:r>
              <a:rPr lang="en-US" sz="1500" b="1" dirty="0">
                <a:solidFill>
                  <a:srgbClr val="FFFFFF"/>
                </a:solidFill>
                <a:latin typeface="Calibri" pitchFamily="34" charset="0"/>
                <a:ea typeface="Calibri" pitchFamily="34" charset="-122"/>
                <a:cs typeface="Calibri" pitchFamily="34" charset="-120"/>
              </a:rPr>
              <a:t>Writes the Epikrise / Verlaufsbericht
</a:t>
            </a:r>
            <a:endParaRPr lang="en-US" sz="1500" dirty="0"/>
          </a:p>
          <a:p>
            <a:pPr marL="0" indent="0">
              <a:lnSpc>
                <a:spcPct val="100000"/>
              </a:lnSpc>
              <a:buNone/>
            </a:pPr>
            <a:r>
              <a:rPr lang="en-US" sz="1300" dirty="0">
                <a:solidFill>
                  <a:srgbClr val="CADDE4"/>
                </a:solidFill>
                <a:latin typeface="Calibri" pitchFamily="34" charset="0"/>
                <a:ea typeface="Calibri" pitchFamily="34" charset="-122"/>
                <a:cs typeface="Calibri" pitchFamily="34" charset="-120"/>
              </a:rPr>
              <a:t>Works on fake identities; never sees real patient data.</a:t>
            </a:r>
            <a:endParaRPr lang="en-US" sz="1500" dirty="0"/>
          </a:p>
        </p:txBody>
      </p:sp>
      <p:sp>
        <p:nvSpPr>
          <p:cNvPr id="13" name="Shape 11"/>
          <p:cNvSpPr/>
          <p:nvPr/>
        </p:nvSpPr>
        <p:spPr>
          <a:xfrm>
            <a:off x="548640" y="5486400"/>
            <a:ext cx="11064240" cy="868680"/>
          </a:xfrm>
          <a:prstGeom prst="roundRect">
            <a:avLst>
              <a:gd name="adj" fmla="val 8421"/>
            </a:avLst>
          </a:prstGeom>
          <a:solidFill>
            <a:srgbClr val="E7F3F4"/>
          </a:solidFill>
          <a:ln/>
          <a:effectLst>
            <a:outerShdw blurRad="88900" dist="38100" dir="5400000" algn="bl" rotWithShape="0">
              <a:srgbClr val="0E2A38">
                <a:alpha val="10000"/>
              </a:srgbClr>
            </a:outerShdw>
          </a:effectLst>
        </p:spPr>
        <p:txBody>
          <a:bodyPr/>
          <a:lstStyle/>
          <a:p>
            <a:endParaRPr lang="es-ES"/>
          </a:p>
        </p:txBody>
      </p:sp>
      <p:sp>
        <p:nvSpPr>
          <p:cNvPr id="14" name="Text 12"/>
          <p:cNvSpPr/>
          <p:nvPr/>
        </p:nvSpPr>
        <p:spPr>
          <a:xfrm>
            <a:off x="868680" y="5605272"/>
            <a:ext cx="10424160" cy="640080"/>
          </a:xfrm>
          <a:prstGeom prst="rect">
            <a:avLst/>
          </a:prstGeom>
          <a:noFill/>
          <a:ln/>
        </p:spPr>
        <p:txBody>
          <a:bodyPr wrap="square" lIns="0" tIns="0" rIns="0" bIns="0" rtlCol="0" anchor="ctr"/>
          <a:lstStyle/>
          <a:p>
            <a:pPr marL="0" indent="0">
              <a:buNone/>
            </a:pPr>
            <a:r>
              <a:rPr lang="en-US" sz="1350" b="1" dirty="0">
                <a:solidFill>
                  <a:srgbClr val="028090"/>
                </a:solidFill>
                <a:latin typeface="Calibri" pitchFamily="34" charset="0"/>
                <a:ea typeface="Calibri" pitchFamily="34" charset="-122"/>
                <a:cs typeface="Calibri" pitchFamily="34" charset="-120"/>
              </a:rPr>
              <a:t>Why split the models:  </a:t>
            </a:r>
            <a:r>
              <a:rPr lang="en-US" sz="1350" dirty="0">
                <a:solidFill>
                  <a:srgbClr val="1B2A32"/>
                </a:solidFill>
                <a:latin typeface="Calibri" pitchFamily="34" charset="0"/>
                <a:ea typeface="Calibri" pitchFamily="34" charset="-122"/>
                <a:cs typeface="Calibri" pitchFamily="34" charset="-120"/>
              </a:rPr>
              <a:t>the detector sees real PHI, so it must be local; the summariser only sees pseudonyms, so it can use a powerful external LLM. Data minimisation by design.</a:t>
            </a:r>
            <a:endParaRPr lang="en-US" sz="1350" dirty="0"/>
          </a:p>
        </p:txBody>
      </p:sp>
      <p:sp>
        <p:nvSpPr>
          <p:cNvPr id="15" name="Text 13"/>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5A6B73"/>
                </a:solidFill>
                <a:latin typeface="Calibri" pitchFamily="34" charset="0"/>
                <a:ea typeface="Calibri" pitchFamily="34" charset="-122"/>
                <a:cs typeface="Calibri" pitchFamily="34" charset="-120"/>
              </a:rPr>
              <a:t>04</a:t>
            </a:r>
            <a:endParaRPr lang="en-US" sz="1100" dirty="0"/>
          </a:p>
        </p:txBody>
      </p:sp>
      <p:sp>
        <p:nvSpPr>
          <p:cNvPr id="17" name="Shape 5">
            <a:extLst>
              <a:ext uri="{FF2B5EF4-FFF2-40B4-BE49-F238E27FC236}">
                <a16:creationId xmlns:a16="http://schemas.microsoft.com/office/drawing/2014/main" id="{A040AF39-AC22-FBCF-C75C-F0C26E312B1C}"/>
              </a:ext>
            </a:extLst>
          </p:cNvPr>
          <p:cNvSpPr/>
          <p:nvPr/>
        </p:nvSpPr>
        <p:spPr>
          <a:xfrm rot="10800000">
            <a:off x="6286500" y="4297680"/>
            <a:ext cx="822960" cy="640080"/>
          </a:xfrm>
          <a:prstGeom prst="rightArrow">
            <a:avLst/>
          </a:prstGeom>
          <a:solidFill>
            <a:srgbClr val="00A896"/>
          </a:solidFill>
          <a:ln/>
        </p:spPr>
        <p:txBody>
          <a:bodyPr/>
          <a:lstStyle/>
          <a:p>
            <a:endParaRPr lang="es-E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028090"/>
                </a:solidFill>
                <a:latin typeface="Calibri" pitchFamily="34" charset="0"/>
                <a:ea typeface="Calibri" pitchFamily="34" charset="-122"/>
                <a:cs typeface="Calibri" pitchFamily="34" charset="-120"/>
              </a:rPr>
              <a:t>IMPLEMENTATION</a:t>
            </a: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t"/>
          <a:lstStyle/>
          <a:p>
            <a:pPr marL="0" indent="0">
              <a:buNone/>
            </a:pPr>
            <a:r>
              <a:rPr lang="en-US" sz="3000" b="1" dirty="0">
                <a:solidFill>
                  <a:srgbClr val="1B2A32"/>
                </a:solidFill>
                <a:latin typeface="Cambria" pitchFamily="34" charset="0"/>
                <a:ea typeface="Cambria" pitchFamily="34" charset="-122"/>
                <a:cs typeface="Cambria" pitchFamily="34" charset="-120"/>
              </a:rPr>
              <a:t>The n8n workflow</a:t>
            </a:r>
            <a:endParaRPr lang="en-US" sz="3000" dirty="0"/>
          </a:p>
        </p:txBody>
      </p:sp>
      <p:sp>
        <p:nvSpPr>
          <p:cNvPr id="4" name="Shape 2"/>
          <p:cNvSpPr/>
          <p:nvPr/>
        </p:nvSpPr>
        <p:spPr>
          <a:xfrm>
            <a:off x="548640" y="1691640"/>
            <a:ext cx="6766560" cy="548640"/>
          </a:xfrm>
          <a:prstGeom prst="roundRect">
            <a:avLst>
              <a:gd name="adj" fmla="val 1333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5" name="Shape 3"/>
          <p:cNvSpPr/>
          <p:nvPr/>
        </p:nvSpPr>
        <p:spPr>
          <a:xfrm>
            <a:off x="658368" y="1773936"/>
            <a:ext cx="384048" cy="384048"/>
          </a:xfrm>
          <a:prstGeom prst="ellipse">
            <a:avLst/>
          </a:prstGeom>
          <a:solidFill>
            <a:srgbClr val="00A896"/>
          </a:solidFill>
          <a:ln/>
        </p:spPr>
        <p:txBody>
          <a:bodyPr/>
          <a:lstStyle/>
          <a:p>
            <a:endParaRPr lang="es-ES"/>
          </a:p>
        </p:txBody>
      </p:sp>
      <p:sp>
        <p:nvSpPr>
          <p:cNvPr id="6" name="Text 4"/>
          <p:cNvSpPr/>
          <p:nvPr/>
        </p:nvSpPr>
        <p:spPr>
          <a:xfrm>
            <a:off x="658368" y="177393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188720" y="1691640"/>
            <a:ext cx="5989320" cy="548640"/>
          </a:xfrm>
          <a:prstGeom prst="rect">
            <a:avLst/>
          </a:prstGeom>
          <a:noFill/>
          <a:ln/>
        </p:spPr>
        <p:txBody>
          <a:bodyPr wrap="square" lIns="0" tIns="0" rIns="0" bIns="0" rtlCol="0" anchor="ctr"/>
          <a:lstStyle/>
          <a:p>
            <a:pPr marL="0" indent="0">
              <a:buNone/>
            </a:pPr>
            <a:r>
              <a:rPr lang="en-US" sz="1250" b="1" dirty="0">
                <a:solidFill>
                  <a:srgbClr val="1B2A32"/>
                </a:solidFill>
                <a:latin typeface="Calibri" pitchFamily="34" charset="0"/>
                <a:ea typeface="Calibri" pitchFamily="34" charset="-122"/>
                <a:cs typeface="Calibri" pitchFamily="34" charset="-120"/>
              </a:rPr>
              <a:t>Start to Load Input   </a:t>
            </a:r>
            <a:r>
              <a:rPr lang="en-US" sz="1050" dirty="0">
                <a:solidFill>
                  <a:srgbClr val="5A6B73"/>
                </a:solidFill>
                <a:latin typeface="Calibri" pitchFamily="34" charset="0"/>
                <a:ea typeface="Calibri" pitchFamily="34" charset="-122"/>
                <a:cs typeface="Calibri" pitchFamily="34" charset="-120"/>
              </a:rPr>
              <a:t>Loads the GraSCCo corpus (UIMA CAS JSON), extracts text + ground-truth PII</a:t>
            </a:r>
            <a:endParaRPr lang="en-US" sz="1250" dirty="0"/>
          </a:p>
        </p:txBody>
      </p:sp>
      <p:sp>
        <p:nvSpPr>
          <p:cNvPr id="8" name="Shape 6"/>
          <p:cNvSpPr/>
          <p:nvPr/>
        </p:nvSpPr>
        <p:spPr>
          <a:xfrm>
            <a:off x="548640" y="2276856"/>
            <a:ext cx="6766560" cy="548640"/>
          </a:xfrm>
          <a:prstGeom prst="roundRect">
            <a:avLst>
              <a:gd name="adj" fmla="val 1333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9" name="Shape 7"/>
          <p:cNvSpPr/>
          <p:nvPr/>
        </p:nvSpPr>
        <p:spPr>
          <a:xfrm>
            <a:off x="658368" y="2359152"/>
            <a:ext cx="384048" cy="384048"/>
          </a:xfrm>
          <a:prstGeom prst="ellipse">
            <a:avLst/>
          </a:prstGeom>
          <a:solidFill>
            <a:srgbClr val="00A896"/>
          </a:solidFill>
          <a:ln/>
        </p:spPr>
        <p:txBody>
          <a:bodyPr/>
          <a:lstStyle/>
          <a:p>
            <a:endParaRPr lang="es-ES"/>
          </a:p>
        </p:txBody>
      </p:sp>
      <p:sp>
        <p:nvSpPr>
          <p:cNvPr id="10" name="Text 8"/>
          <p:cNvSpPr/>
          <p:nvPr/>
        </p:nvSpPr>
        <p:spPr>
          <a:xfrm>
            <a:off x="658368" y="235915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88720" y="2276856"/>
            <a:ext cx="5989320" cy="548640"/>
          </a:xfrm>
          <a:prstGeom prst="rect">
            <a:avLst/>
          </a:prstGeom>
          <a:noFill/>
          <a:ln/>
        </p:spPr>
        <p:txBody>
          <a:bodyPr wrap="square" lIns="0" tIns="0" rIns="0" bIns="0" rtlCol="0" anchor="ctr"/>
          <a:lstStyle/>
          <a:p>
            <a:pPr marL="0" indent="0">
              <a:buNone/>
            </a:pPr>
            <a:r>
              <a:rPr lang="en-US" sz="1250" b="1" dirty="0">
                <a:solidFill>
                  <a:srgbClr val="1B2A32"/>
                </a:solidFill>
                <a:latin typeface="Calibri" pitchFamily="34" charset="0"/>
                <a:ea typeface="Calibri" pitchFamily="34" charset="-122"/>
                <a:cs typeface="Calibri" pitchFamily="34" charset="-120"/>
              </a:rPr>
              <a:t>A · Detect (Regex)   </a:t>
            </a:r>
            <a:r>
              <a:rPr lang="en-US" sz="1050" dirty="0">
                <a:solidFill>
                  <a:srgbClr val="5A6B73"/>
                </a:solidFill>
                <a:latin typeface="Calibri" pitchFamily="34" charset="0"/>
                <a:ea typeface="Calibri" pitchFamily="34" charset="-122"/>
                <a:cs typeface="Calibri" pitchFamily="34" charset="-120"/>
              </a:rPr>
              <a:t>Deterministic German-clinical detection</a:t>
            </a:r>
            <a:endParaRPr lang="en-US" sz="1250" dirty="0"/>
          </a:p>
        </p:txBody>
      </p:sp>
      <p:sp>
        <p:nvSpPr>
          <p:cNvPr id="12" name="Shape 10"/>
          <p:cNvSpPr/>
          <p:nvPr/>
        </p:nvSpPr>
        <p:spPr>
          <a:xfrm>
            <a:off x="548640" y="2862072"/>
            <a:ext cx="6766560" cy="548640"/>
          </a:xfrm>
          <a:prstGeom prst="roundRect">
            <a:avLst>
              <a:gd name="adj" fmla="val 1333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3" name="Shape 11"/>
          <p:cNvSpPr/>
          <p:nvPr/>
        </p:nvSpPr>
        <p:spPr>
          <a:xfrm>
            <a:off x="658368" y="2944368"/>
            <a:ext cx="384048" cy="384048"/>
          </a:xfrm>
          <a:prstGeom prst="ellipse">
            <a:avLst/>
          </a:prstGeom>
          <a:solidFill>
            <a:srgbClr val="028090"/>
          </a:solidFill>
          <a:ln/>
        </p:spPr>
        <p:txBody>
          <a:bodyPr/>
          <a:lstStyle/>
          <a:p>
            <a:endParaRPr lang="es-ES"/>
          </a:p>
        </p:txBody>
      </p:sp>
      <p:sp>
        <p:nvSpPr>
          <p:cNvPr id="14" name="Text 12"/>
          <p:cNvSpPr/>
          <p:nvPr/>
        </p:nvSpPr>
        <p:spPr>
          <a:xfrm>
            <a:off x="658368" y="29443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188720" y="2862072"/>
            <a:ext cx="5989320" cy="548640"/>
          </a:xfrm>
          <a:prstGeom prst="rect">
            <a:avLst/>
          </a:prstGeom>
          <a:noFill/>
          <a:ln/>
        </p:spPr>
        <p:txBody>
          <a:bodyPr wrap="square" lIns="0" tIns="0" rIns="0" bIns="0" rtlCol="0" anchor="ctr"/>
          <a:lstStyle/>
          <a:p>
            <a:pPr marL="0" indent="0">
              <a:buNone/>
            </a:pPr>
            <a:r>
              <a:rPr lang="en-US" sz="1250" b="1" dirty="0">
                <a:solidFill>
                  <a:srgbClr val="1B2A32"/>
                </a:solidFill>
                <a:latin typeface="Calibri" pitchFamily="34" charset="0"/>
                <a:ea typeface="Calibri" pitchFamily="34" charset="-122"/>
                <a:cs typeface="Calibri" pitchFamily="34" charset="-120"/>
              </a:rPr>
              <a:t>AI Agent · Ollama   </a:t>
            </a:r>
            <a:r>
              <a:rPr lang="en-US" sz="1050" dirty="0">
                <a:solidFill>
                  <a:srgbClr val="5A6B73"/>
                </a:solidFill>
                <a:latin typeface="Calibri" pitchFamily="34" charset="0"/>
                <a:ea typeface="Calibri" pitchFamily="34" charset="-122"/>
                <a:cs typeface="Calibri" pitchFamily="34" charset="-120"/>
              </a:rPr>
              <a:t>Local LLM detects PII in free text</a:t>
            </a:r>
            <a:endParaRPr lang="en-US" sz="1250" dirty="0"/>
          </a:p>
        </p:txBody>
      </p:sp>
      <p:sp>
        <p:nvSpPr>
          <p:cNvPr id="16" name="Shape 14"/>
          <p:cNvSpPr/>
          <p:nvPr/>
        </p:nvSpPr>
        <p:spPr>
          <a:xfrm>
            <a:off x="548640" y="3447288"/>
            <a:ext cx="6766560" cy="548640"/>
          </a:xfrm>
          <a:prstGeom prst="roundRect">
            <a:avLst>
              <a:gd name="adj" fmla="val 1333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7" name="Shape 15"/>
          <p:cNvSpPr/>
          <p:nvPr/>
        </p:nvSpPr>
        <p:spPr>
          <a:xfrm>
            <a:off x="658368" y="3529584"/>
            <a:ext cx="384048" cy="384048"/>
          </a:xfrm>
          <a:prstGeom prst="ellipse">
            <a:avLst/>
          </a:prstGeom>
          <a:solidFill>
            <a:srgbClr val="00A896"/>
          </a:solidFill>
          <a:ln/>
        </p:spPr>
        <p:txBody>
          <a:bodyPr/>
          <a:lstStyle/>
          <a:p>
            <a:endParaRPr lang="es-ES"/>
          </a:p>
        </p:txBody>
      </p:sp>
      <p:sp>
        <p:nvSpPr>
          <p:cNvPr id="18" name="Text 16"/>
          <p:cNvSpPr/>
          <p:nvPr/>
        </p:nvSpPr>
        <p:spPr>
          <a:xfrm>
            <a:off x="658368" y="352958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188720" y="3447288"/>
            <a:ext cx="5989320" cy="548640"/>
          </a:xfrm>
          <a:prstGeom prst="rect">
            <a:avLst/>
          </a:prstGeom>
          <a:noFill/>
          <a:ln/>
        </p:spPr>
        <p:txBody>
          <a:bodyPr wrap="square" lIns="0" tIns="0" rIns="0" bIns="0" rtlCol="0" anchor="ctr"/>
          <a:lstStyle/>
          <a:p>
            <a:pPr marL="0" indent="0">
              <a:buNone/>
            </a:pPr>
            <a:r>
              <a:rPr lang="en-US" sz="1250" b="1" dirty="0">
                <a:solidFill>
                  <a:srgbClr val="1B2A32"/>
                </a:solidFill>
                <a:latin typeface="Calibri" pitchFamily="34" charset="0"/>
                <a:ea typeface="Calibri" pitchFamily="34" charset="-122"/>
                <a:cs typeface="Calibri" pitchFamily="34" charset="-120"/>
              </a:rPr>
              <a:t>Merge Detections   </a:t>
            </a:r>
            <a:r>
              <a:rPr lang="en-US" sz="1050" dirty="0">
                <a:solidFill>
                  <a:srgbClr val="5A6B73"/>
                </a:solidFill>
                <a:latin typeface="Calibri" pitchFamily="34" charset="0"/>
                <a:ea typeface="Calibri" pitchFamily="34" charset="-122"/>
                <a:cs typeface="Calibri" pitchFamily="34" charset="-120"/>
              </a:rPr>
              <a:t>Combines regex + LLM, filters hallucinations and duplicates</a:t>
            </a:r>
            <a:endParaRPr lang="en-US" sz="1250" dirty="0"/>
          </a:p>
        </p:txBody>
      </p:sp>
      <p:sp>
        <p:nvSpPr>
          <p:cNvPr id="20" name="Shape 18"/>
          <p:cNvSpPr/>
          <p:nvPr/>
        </p:nvSpPr>
        <p:spPr>
          <a:xfrm>
            <a:off x="548640" y="4032504"/>
            <a:ext cx="6766560" cy="548640"/>
          </a:xfrm>
          <a:prstGeom prst="roundRect">
            <a:avLst>
              <a:gd name="adj" fmla="val 1333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21" name="Shape 19"/>
          <p:cNvSpPr/>
          <p:nvPr/>
        </p:nvSpPr>
        <p:spPr>
          <a:xfrm>
            <a:off x="658368" y="4114800"/>
            <a:ext cx="384048" cy="384048"/>
          </a:xfrm>
          <a:prstGeom prst="ellipse">
            <a:avLst/>
          </a:prstGeom>
          <a:solidFill>
            <a:srgbClr val="00A896"/>
          </a:solidFill>
          <a:ln/>
        </p:spPr>
        <p:txBody>
          <a:bodyPr/>
          <a:lstStyle/>
          <a:p>
            <a:endParaRPr lang="es-ES"/>
          </a:p>
        </p:txBody>
      </p:sp>
      <p:sp>
        <p:nvSpPr>
          <p:cNvPr id="22" name="Text 20"/>
          <p:cNvSpPr/>
          <p:nvPr/>
        </p:nvSpPr>
        <p:spPr>
          <a:xfrm>
            <a:off x="658368" y="41148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1188720" y="4032504"/>
            <a:ext cx="5989320" cy="548640"/>
          </a:xfrm>
          <a:prstGeom prst="rect">
            <a:avLst/>
          </a:prstGeom>
          <a:noFill/>
          <a:ln/>
        </p:spPr>
        <p:txBody>
          <a:bodyPr wrap="square" lIns="0" tIns="0" rIns="0" bIns="0" rtlCol="0" anchor="ctr"/>
          <a:lstStyle/>
          <a:p>
            <a:pPr marL="0" indent="0">
              <a:buNone/>
            </a:pPr>
            <a:r>
              <a:rPr lang="en-US" sz="1250" b="1" dirty="0">
                <a:solidFill>
                  <a:srgbClr val="1B2A32"/>
                </a:solidFill>
                <a:latin typeface="Calibri" pitchFamily="34" charset="0"/>
                <a:ea typeface="Calibri" pitchFamily="34" charset="-122"/>
                <a:cs typeface="Calibri" pitchFamily="34" charset="-120"/>
              </a:rPr>
              <a:t>B · Pseudonymize   </a:t>
            </a:r>
            <a:r>
              <a:rPr lang="en-US" sz="1050" dirty="0">
                <a:solidFill>
                  <a:srgbClr val="5A6B73"/>
                </a:solidFill>
                <a:latin typeface="Calibri" pitchFamily="34" charset="0"/>
                <a:ea typeface="Calibri" pitchFamily="34" charset="-122"/>
                <a:cs typeface="Calibri" pitchFamily="34" charset="-120"/>
              </a:rPr>
              <a:t>Swaps PII for fake values; builds the dictionary</a:t>
            </a:r>
            <a:endParaRPr lang="en-US" sz="1250" dirty="0"/>
          </a:p>
        </p:txBody>
      </p:sp>
      <p:sp>
        <p:nvSpPr>
          <p:cNvPr id="24" name="Shape 22"/>
          <p:cNvSpPr/>
          <p:nvPr/>
        </p:nvSpPr>
        <p:spPr>
          <a:xfrm>
            <a:off x="548640" y="4617720"/>
            <a:ext cx="6766560" cy="548640"/>
          </a:xfrm>
          <a:prstGeom prst="roundRect">
            <a:avLst>
              <a:gd name="adj" fmla="val 1333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25" name="Shape 23"/>
          <p:cNvSpPr/>
          <p:nvPr/>
        </p:nvSpPr>
        <p:spPr>
          <a:xfrm>
            <a:off x="658368" y="4700016"/>
            <a:ext cx="384048" cy="384048"/>
          </a:xfrm>
          <a:prstGeom prst="ellipse">
            <a:avLst/>
          </a:prstGeom>
          <a:solidFill>
            <a:srgbClr val="F96167"/>
          </a:solidFill>
          <a:ln/>
        </p:spPr>
        <p:txBody>
          <a:bodyPr/>
          <a:lstStyle/>
          <a:p>
            <a:endParaRPr lang="es-ES"/>
          </a:p>
        </p:txBody>
      </p:sp>
      <p:sp>
        <p:nvSpPr>
          <p:cNvPr id="26" name="Text 24"/>
          <p:cNvSpPr/>
          <p:nvPr/>
        </p:nvSpPr>
        <p:spPr>
          <a:xfrm>
            <a:off x="658368" y="47000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7" name="Text 25"/>
          <p:cNvSpPr/>
          <p:nvPr/>
        </p:nvSpPr>
        <p:spPr>
          <a:xfrm>
            <a:off x="1188720" y="4617720"/>
            <a:ext cx="5989320" cy="548640"/>
          </a:xfrm>
          <a:prstGeom prst="rect">
            <a:avLst/>
          </a:prstGeom>
          <a:noFill/>
          <a:ln/>
        </p:spPr>
        <p:txBody>
          <a:bodyPr wrap="square" lIns="0" tIns="0" rIns="0" bIns="0" rtlCol="0" anchor="ctr"/>
          <a:lstStyle/>
          <a:p>
            <a:pPr marL="0" indent="0">
              <a:buNone/>
            </a:pPr>
            <a:r>
              <a:rPr lang="en-US" sz="1250" b="1" dirty="0">
                <a:solidFill>
                  <a:srgbClr val="1B2A32"/>
                </a:solidFill>
                <a:latin typeface="Calibri" pitchFamily="34" charset="0"/>
                <a:ea typeface="Calibri" pitchFamily="34" charset="-122"/>
                <a:cs typeface="Calibri" pitchFamily="34" charset="-120"/>
              </a:rPr>
              <a:t>AI Agent1 · Mistral Cloud   </a:t>
            </a:r>
            <a:r>
              <a:rPr lang="en-US" sz="1050" dirty="0">
                <a:solidFill>
                  <a:srgbClr val="5A6B73"/>
                </a:solidFill>
                <a:latin typeface="Calibri" pitchFamily="34" charset="0"/>
                <a:ea typeface="Calibri" pitchFamily="34" charset="-122"/>
                <a:cs typeface="Calibri" pitchFamily="34" charset="-120"/>
              </a:rPr>
              <a:t>External LLM writes the clinical summary</a:t>
            </a:r>
            <a:endParaRPr lang="en-US" sz="1250" dirty="0"/>
          </a:p>
        </p:txBody>
      </p:sp>
      <p:sp>
        <p:nvSpPr>
          <p:cNvPr id="28" name="Shape 26"/>
          <p:cNvSpPr/>
          <p:nvPr/>
        </p:nvSpPr>
        <p:spPr>
          <a:xfrm>
            <a:off x="548640" y="5202936"/>
            <a:ext cx="6766560" cy="548640"/>
          </a:xfrm>
          <a:prstGeom prst="roundRect">
            <a:avLst>
              <a:gd name="adj" fmla="val 1333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29" name="Shape 27"/>
          <p:cNvSpPr/>
          <p:nvPr/>
        </p:nvSpPr>
        <p:spPr>
          <a:xfrm>
            <a:off x="658368" y="5285232"/>
            <a:ext cx="384048" cy="384048"/>
          </a:xfrm>
          <a:prstGeom prst="ellipse">
            <a:avLst/>
          </a:prstGeom>
          <a:solidFill>
            <a:srgbClr val="00A896"/>
          </a:solidFill>
          <a:ln/>
        </p:spPr>
        <p:txBody>
          <a:bodyPr/>
          <a:lstStyle/>
          <a:p>
            <a:endParaRPr lang="es-ES"/>
          </a:p>
        </p:txBody>
      </p:sp>
      <p:sp>
        <p:nvSpPr>
          <p:cNvPr id="30" name="Text 28"/>
          <p:cNvSpPr/>
          <p:nvPr/>
        </p:nvSpPr>
        <p:spPr>
          <a:xfrm>
            <a:off x="658368" y="528523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1" name="Text 29"/>
          <p:cNvSpPr/>
          <p:nvPr/>
        </p:nvSpPr>
        <p:spPr>
          <a:xfrm>
            <a:off x="1188720" y="5202936"/>
            <a:ext cx="5989320" cy="548640"/>
          </a:xfrm>
          <a:prstGeom prst="rect">
            <a:avLst/>
          </a:prstGeom>
          <a:noFill/>
          <a:ln/>
        </p:spPr>
        <p:txBody>
          <a:bodyPr wrap="square" lIns="0" tIns="0" rIns="0" bIns="0" rtlCol="0" anchor="ctr"/>
          <a:lstStyle/>
          <a:p>
            <a:pPr marL="0" indent="0">
              <a:buNone/>
            </a:pPr>
            <a:r>
              <a:rPr lang="en-US" sz="1250" b="1" dirty="0">
                <a:solidFill>
                  <a:srgbClr val="1B2A32"/>
                </a:solidFill>
                <a:latin typeface="Calibri" pitchFamily="34" charset="0"/>
                <a:ea typeface="Calibri" pitchFamily="34" charset="-122"/>
                <a:cs typeface="Calibri" pitchFamily="34" charset="-120"/>
              </a:rPr>
              <a:t>C · De-pseudonymize   </a:t>
            </a:r>
            <a:r>
              <a:rPr lang="en-US" sz="1050" dirty="0">
                <a:solidFill>
                  <a:srgbClr val="5A6B73"/>
                </a:solidFill>
                <a:latin typeface="Calibri" pitchFamily="34" charset="0"/>
                <a:ea typeface="Calibri" pitchFamily="34" charset="-122"/>
                <a:cs typeface="Calibri" pitchFamily="34" charset="-120"/>
              </a:rPr>
              <a:t>Reverts pseudonyms using the dictionary</a:t>
            </a:r>
            <a:endParaRPr lang="en-US" sz="1250" dirty="0"/>
          </a:p>
        </p:txBody>
      </p:sp>
      <p:sp>
        <p:nvSpPr>
          <p:cNvPr id="32" name="Shape 30"/>
          <p:cNvSpPr/>
          <p:nvPr/>
        </p:nvSpPr>
        <p:spPr>
          <a:xfrm>
            <a:off x="548640" y="5788152"/>
            <a:ext cx="6766560" cy="548640"/>
          </a:xfrm>
          <a:prstGeom prst="roundRect">
            <a:avLst>
              <a:gd name="adj" fmla="val 1333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33" name="Shape 31"/>
          <p:cNvSpPr/>
          <p:nvPr/>
        </p:nvSpPr>
        <p:spPr>
          <a:xfrm>
            <a:off x="658368" y="5870448"/>
            <a:ext cx="384048" cy="384048"/>
          </a:xfrm>
          <a:prstGeom prst="ellipse">
            <a:avLst/>
          </a:prstGeom>
          <a:solidFill>
            <a:srgbClr val="00A896"/>
          </a:solidFill>
          <a:ln/>
        </p:spPr>
        <p:txBody>
          <a:bodyPr/>
          <a:lstStyle/>
          <a:p>
            <a:endParaRPr lang="es-ES"/>
          </a:p>
        </p:txBody>
      </p:sp>
      <p:sp>
        <p:nvSpPr>
          <p:cNvPr id="34" name="Text 32"/>
          <p:cNvSpPr/>
          <p:nvPr/>
        </p:nvSpPr>
        <p:spPr>
          <a:xfrm>
            <a:off x="658368" y="5870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5" name="Text 33"/>
          <p:cNvSpPr/>
          <p:nvPr/>
        </p:nvSpPr>
        <p:spPr>
          <a:xfrm>
            <a:off x="1188720" y="5788152"/>
            <a:ext cx="5989320" cy="548640"/>
          </a:xfrm>
          <a:prstGeom prst="rect">
            <a:avLst/>
          </a:prstGeom>
          <a:noFill/>
          <a:ln/>
        </p:spPr>
        <p:txBody>
          <a:bodyPr wrap="square" lIns="0" tIns="0" rIns="0" bIns="0" rtlCol="0" anchor="ctr"/>
          <a:lstStyle/>
          <a:p>
            <a:pPr marL="0" indent="0">
              <a:buNone/>
            </a:pPr>
            <a:r>
              <a:rPr lang="en-US" sz="1250" b="1" dirty="0">
                <a:solidFill>
                  <a:srgbClr val="1B2A32"/>
                </a:solidFill>
                <a:latin typeface="Calibri" pitchFamily="34" charset="0"/>
                <a:ea typeface="Calibri" pitchFamily="34" charset="-122"/>
                <a:cs typeface="Calibri" pitchFamily="34" charset="-120"/>
              </a:rPr>
              <a:t>D · Evaluate   </a:t>
            </a:r>
            <a:r>
              <a:rPr lang="en-US" sz="1050" dirty="0">
                <a:solidFill>
                  <a:srgbClr val="5A6B73"/>
                </a:solidFill>
                <a:latin typeface="Calibri" pitchFamily="34" charset="0"/>
                <a:ea typeface="Calibri" pitchFamily="34" charset="-122"/>
                <a:cs typeface="Calibri" pitchFamily="34" charset="-120"/>
              </a:rPr>
              <a:t>Computes precision / recall / F1 vs ground-truth</a:t>
            </a:r>
            <a:endParaRPr lang="en-US" sz="1250" dirty="0"/>
          </a:p>
        </p:txBody>
      </p:sp>
      <p:sp>
        <p:nvSpPr>
          <p:cNvPr id="36" name="Shape 34"/>
          <p:cNvSpPr/>
          <p:nvPr/>
        </p:nvSpPr>
        <p:spPr>
          <a:xfrm>
            <a:off x="7543800" y="1691640"/>
            <a:ext cx="4069080" cy="4526280"/>
          </a:xfrm>
          <a:prstGeom prst="roundRect">
            <a:avLst>
              <a:gd name="adj" fmla="val 1798"/>
            </a:avLst>
          </a:prstGeom>
          <a:solidFill>
            <a:srgbClr val="0E2A38"/>
          </a:solidFill>
          <a:ln/>
          <a:effectLst>
            <a:outerShdw blurRad="88900" dist="38100" dir="5400000" algn="bl" rotWithShape="0">
              <a:srgbClr val="0E2A38">
                <a:alpha val="10000"/>
              </a:srgbClr>
            </a:outerShdw>
          </a:effectLst>
        </p:spPr>
        <p:txBody>
          <a:bodyPr/>
          <a:lstStyle/>
          <a:p>
            <a:endParaRPr lang="es-ES"/>
          </a:p>
        </p:txBody>
      </p:sp>
      <p:sp>
        <p:nvSpPr>
          <p:cNvPr id="37" name="Text 35"/>
          <p:cNvSpPr/>
          <p:nvPr/>
        </p:nvSpPr>
        <p:spPr>
          <a:xfrm>
            <a:off x="7818120" y="1920240"/>
            <a:ext cx="3566160" cy="365760"/>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Evaluation loop</a:t>
            </a:r>
            <a:endParaRPr lang="en-US" sz="1400" dirty="0"/>
          </a:p>
        </p:txBody>
      </p:sp>
      <p:sp>
        <p:nvSpPr>
          <p:cNvPr id="38" name="Text 36"/>
          <p:cNvSpPr/>
          <p:nvPr/>
        </p:nvSpPr>
        <p:spPr>
          <a:xfrm>
            <a:off x="7818120" y="2331720"/>
            <a:ext cx="3520440" cy="3657600"/>
          </a:xfrm>
          <a:prstGeom prst="rect">
            <a:avLst/>
          </a:prstGeom>
          <a:noFill/>
          <a:ln/>
        </p:spPr>
        <p:txBody>
          <a:bodyPr wrap="square" lIns="0" tIns="0" rIns="0" bIns="0" rtlCol="0" anchor="t"/>
          <a:lstStyle/>
          <a:p>
            <a:pPr marL="0" indent="0">
              <a:lnSpc>
                <a:spcPct val="105000"/>
              </a:lnSpc>
              <a:buNone/>
            </a:pPr>
            <a:r>
              <a:rPr lang="en-US" sz="1300" b="1" dirty="0">
                <a:solidFill>
                  <a:srgbClr val="FFFFFF"/>
                </a:solidFill>
                <a:latin typeface="Calibri" pitchFamily="34" charset="0"/>
                <a:ea typeface="Calibri" pitchFamily="34" charset="-122"/>
                <a:cs typeface="Calibri" pitchFamily="34" charset="-120"/>
              </a:rPr>
              <a:t>Loop Over Items (batch 1)</a:t>
            </a:r>
            <a:endParaRPr lang="en-US" sz="1300" dirty="0"/>
          </a:p>
          <a:p>
            <a:pPr marL="0" indent="0">
              <a:lnSpc>
                <a:spcPct val="105000"/>
              </a:lnSpc>
              <a:buNone/>
            </a:pPr>
            <a:r>
              <a:rPr lang="en-US" sz="1200" dirty="0">
                <a:solidFill>
                  <a:srgbClr val="CADDE4"/>
                </a:solidFill>
                <a:latin typeface="Calibri" pitchFamily="34" charset="0"/>
                <a:ea typeface="Calibri" pitchFamily="34" charset="-122"/>
                <a:cs typeface="Calibri" pitchFamily="34" charset="-120"/>
              </a:rPr>
              <a:t>processes documents one by one.
</a:t>
            </a:r>
            <a:endParaRPr lang="en-US" sz="1300" dirty="0"/>
          </a:p>
          <a:p>
            <a:pPr marL="0" indent="0">
              <a:lnSpc>
                <a:spcPct val="105000"/>
              </a:lnSpc>
              <a:buNone/>
            </a:pPr>
            <a:r>
              <a:rPr lang="en-US" sz="1300" b="1" dirty="0">
                <a:solidFill>
                  <a:srgbClr val="FFFFFF"/>
                </a:solidFill>
                <a:latin typeface="Calibri" pitchFamily="34" charset="0"/>
                <a:ea typeface="Calibri" pitchFamily="34" charset="-122"/>
                <a:cs typeface="Calibri" pitchFamily="34" charset="-120"/>
              </a:rPr>
              <a:t>Code · Aggregate</a:t>
            </a:r>
            <a:endParaRPr lang="en-US" sz="1300" dirty="0"/>
          </a:p>
          <a:p>
            <a:pPr marL="0" indent="0">
              <a:lnSpc>
                <a:spcPct val="105000"/>
              </a:lnSpc>
              <a:buNone/>
            </a:pPr>
            <a:r>
              <a:rPr lang="en-US" sz="1200" dirty="0">
                <a:solidFill>
                  <a:srgbClr val="CADDE4"/>
                </a:solidFill>
                <a:latin typeface="Calibri" pitchFamily="34" charset="0"/>
                <a:ea typeface="Calibri" pitchFamily="34" charset="-122"/>
                <a:cs typeface="Calibri" pitchFamily="34" charset="-120"/>
              </a:rPr>
              <a:t>micro-averages TP/FP/FN across the corpus into one citable result.
</a:t>
            </a:r>
            <a:endParaRPr lang="en-US" sz="1300" dirty="0"/>
          </a:p>
          <a:p>
            <a:pPr marL="0" indent="0">
              <a:lnSpc>
                <a:spcPct val="105000"/>
              </a:lnSpc>
              <a:buNone/>
            </a:pPr>
            <a:r>
              <a:rPr lang="en-US" sz="1200" b="1" dirty="0">
                <a:solidFill>
                  <a:srgbClr val="FFFFFF"/>
                </a:solidFill>
                <a:latin typeface="Calibri" pitchFamily="34" charset="0"/>
                <a:ea typeface="Calibri" pitchFamily="34" charset="-122"/>
                <a:cs typeface="Calibri" pitchFamily="34" charset="-120"/>
              </a:rPr>
              <a:t>Icons:</a:t>
            </a:r>
            <a:endParaRPr lang="en-US" sz="1300" dirty="0"/>
          </a:p>
          <a:p>
            <a:pPr marL="0" indent="0">
              <a:lnSpc>
                <a:spcPct val="105000"/>
              </a:lnSpc>
              <a:buNone/>
            </a:pPr>
            <a:r>
              <a:rPr lang="en-US" sz="1150" dirty="0">
                <a:solidFill>
                  <a:srgbClr val="9FB8C2"/>
                </a:solidFill>
                <a:latin typeface="Calibri" pitchFamily="34" charset="0"/>
                <a:ea typeface="Calibri" pitchFamily="34" charset="-122"/>
                <a:cs typeface="Calibri" pitchFamily="34" charset="-120"/>
              </a:rPr>
              <a:t>green = local · red = external</a:t>
            </a:r>
            <a:endParaRPr lang="en-US" sz="1300" dirty="0"/>
          </a:p>
        </p:txBody>
      </p:sp>
      <p:sp>
        <p:nvSpPr>
          <p:cNvPr id="39" name="Text 37"/>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5A6B73"/>
                </a:solidFill>
                <a:latin typeface="Calibri" pitchFamily="34" charset="0"/>
                <a:ea typeface="Calibri" pitchFamily="34" charset="-122"/>
                <a:cs typeface="Calibri"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028090"/>
                </a:solidFill>
                <a:latin typeface="Calibri" pitchFamily="34" charset="0"/>
                <a:ea typeface="Calibri" pitchFamily="34" charset="-122"/>
                <a:cs typeface="Calibri" pitchFamily="34" charset="-120"/>
              </a:rPr>
              <a:t>IMPLEMENTATION</a:t>
            </a: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t"/>
          <a:lstStyle/>
          <a:p>
            <a:pPr marL="0" indent="0">
              <a:buNone/>
            </a:pPr>
            <a:r>
              <a:rPr lang="en-US" sz="3000" b="1" dirty="0">
                <a:solidFill>
                  <a:srgbClr val="1B2A32"/>
                </a:solidFill>
                <a:latin typeface="Cambria" pitchFamily="34" charset="0"/>
                <a:ea typeface="Cambria" pitchFamily="34" charset="-122"/>
                <a:cs typeface="Cambria" pitchFamily="34" charset="-120"/>
              </a:rPr>
              <a:t>What we defined as PII</a:t>
            </a:r>
            <a:endParaRPr lang="en-US" sz="3000" dirty="0"/>
          </a:p>
        </p:txBody>
      </p:sp>
      <p:sp>
        <p:nvSpPr>
          <p:cNvPr id="4" name="Shape 2"/>
          <p:cNvSpPr/>
          <p:nvPr/>
        </p:nvSpPr>
        <p:spPr>
          <a:xfrm>
            <a:off x="548640" y="1691640"/>
            <a:ext cx="5486400" cy="1078992"/>
          </a:xfrm>
          <a:prstGeom prst="roundRect">
            <a:avLst>
              <a:gd name="adj" fmla="val 678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5" name="Text 3"/>
          <p:cNvSpPr/>
          <p:nvPr/>
        </p:nvSpPr>
        <p:spPr>
          <a:xfrm>
            <a:off x="822960" y="1819656"/>
            <a:ext cx="4937760" cy="320040"/>
          </a:xfrm>
          <a:prstGeom prst="rect">
            <a:avLst/>
          </a:prstGeom>
          <a:noFill/>
          <a:ln/>
        </p:spPr>
        <p:txBody>
          <a:bodyPr wrap="square" lIns="0" tIns="0" rIns="0" bIns="0"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Names</a:t>
            </a:r>
            <a:endParaRPr lang="en-US" sz="1500" dirty="0"/>
          </a:p>
        </p:txBody>
      </p:sp>
      <p:sp>
        <p:nvSpPr>
          <p:cNvPr id="6" name="Text 4"/>
          <p:cNvSpPr/>
          <p:nvPr/>
        </p:nvSpPr>
        <p:spPr>
          <a:xfrm>
            <a:off x="822960" y="2148840"/>
            <a:ext cx="4983480" cy="548640"/>
          </a:xfrm>
          <a:prstGeom prst="rect">
            <a:avLst/>
          </a:prstGeom>
          <a:noFill/>
          <a:ln/>
        </p:spPr>
        <p:txBody>
          <a:bodyPr wrap="square" lIns="0" tIns="0" rIns="0" bIns="0" rtlCol="0" anchor="t"/>
          <a:lstStyle/>
          <a:p>
            <a:pPr marL="0" indent="0">
              <a:buNone/>
            </a:pPr>
            <a:r>
              <a:rPr lang="en-US" sz="1150" dirty="0">
                <a:solidFill>
                  <a:srgbClr val="5A6B73"/>
                </a:solidFill>
                <a:latin typeface="Calibri" pitchFamily="34" charset="0"/>
                <a:ea typeface="Calibri" pitchFamily="34" charset="-122"/>
                <a:cs typeface="Calibri" pitchFamily="34" charset="-120"/>
              </a:rPr>
              <a:t>Patients, physicians, staff and relatives - incl. lone initials ("M.") and ALL-CAPS ("H. BLASENSTEIN").</a:t>
            </a:r>
            <a:endParaRPr lang="en-US" sz="1150" dirty="0"/>
          </a:p>
        </p:txBody>
      </p:sp>
      <p:sp>
        <p:nvSpPr>
          <p:cNvPr id="7" name="Shape 5"/>
          <p:cNvSpPr/>
          <p:nvPr/>
        </p:nvSpPr>
        <p:spPr>
          <a:xfrm>
            <a:off x="6126480" y="1691640"/>
            <a:ext cx="5486400" cy="1078992"/>
          </a:xfrm>
          <a:prstGeom prst="roundRect">
            <a:avLst>
              <a:gd name="adj" fmla="val 678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8" name="Text 6"/>
          <p:cNvSpPr/>
          <p:nvPr/>
        </p:nvSpPr>
        <p:spPr>
          <a:xfrm>
            <a:off x="6400800" y="1819656"/>
            <a:ext cx="4937760" cy="320040"/>
          </a:xfrm>
          <a:prstGeom prst="rect">
            <a:avLst/>
          </a:prstGeom>
          <a:noFill/>
          <a:ln/>
        </p:spPr>
        <p:txBody>
          <a:bodyPr wrap="square" lIns="0" tIns="0" rIns="0" bIns="0"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Dates</a:t>
            </a:r>
            <a:endParaRPr lang="en-US" sz="1500" dirty="0"/>
          </a:p>
        </p:txBody>
      </p:sp>
      <p:sp>
        <p:nvSpPr>
          <p:cNvPr id="9" name="Text 7"/>
          <p:cNvSpPr/>
          <p:nvPr/>
        </p:nvSpPr>
        <p:spPr>
          <a:xfrm>
            <a:off x="6400800" y="2148840"/>
            <a:ext cx="4983480" cy="548640"/>
          </a:xfrm>
          <a:prstGeom prst="rect">
            <a:avLst/>
          </a:prstGeom>
          <a:noFill/>
          <a:ln/>
        </p:spPr>
        <p:txBody>
          <a:bodyPr wrap="square" lIns="0" tIns="0" rIns="0" bIns="0" rtlCol="0" anchor="t"/>
          <a:lstStyle/>
          <a:p>
            <a:pPr marL="0" indent="0">
              <a:buNone/>
            </a:pPr>
            <a:r>
              <a:rPr lang="en-US" sz="1150" dirty="0">
                <a:solidFill>
                  <a:srgbClr val="5A6B73"/>
                </a:solidFill>
                <a:latin typeface="Calibri" pitchFamily="34" charset="0"/>
                <a:ea typeface="Calibri" pitchFamily="34" charset="-122"/>
                <a:cs typeface="Calibri" pitchFamily="34" charset="-120"/>
              </a:rPr>
              <a:t>Birth, admission, discharge; German formats (1.2.2000, 3.5.) and standalone years.</a:t>
            </a:r>
            <a:endParaRPr lang="en-US" sz="1150" dirty="0"/>
          </a:p>
        </p:txBody>
      </p:sp>
      <p:sp>
        <p:nvSpPr>
          <p:cNvPr id="10" name="Shape 8"/>
          <p:cNvSpPr/>
          <p:nvPr/>
        </p:nvSpPr>
        <p:spPr>
          <a:xfrm>
            <a:off x="548640" y="2880360"/>
            <a:ext cx="5486400" cy="1078992"/>
          </a:xfrm>
          <a:prstGeom prst="roundRect">
            <a:avLst>
              <a:gd name="adj" fmla="val 678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1" name="Text 9"/>
          <p:cNvSpPr/>
          <p:nvPr/>
        </p:nvSpPr>
        <p:spPr>
          <a:xfrm>
            <a:off x="822960" y="3008376"/>
            <a:ext cx="4937760" cy="320040"/>
          </a:xfrm>
          <a:prstGeom prst="rect">
            <a:avLst/>
          </a:prstGeom>
          <a:noFill/>
          <a:ln/>
        </p:spPr>
        <p:txBody>
          <a:bodyPr wrap="square" lIns="0" tIns="0" rIns="0" bIns="0"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Age</a:t>
            </a:r>
            <a:endParaRPr lang="en-US" sz="1500" dirty="0"/>
          </a:p>
        </p:txBody>
      </p:sp>
      <p:sp>
        <p:nvSpPr>
          <p:cNvPr id="12" name="Text 10"/>
          <p:cNvSpPr/>
          <p:nvPr/>
        </p:nvSpPr>
        <p:spPr>
          <a:xfrm>
            <a:off x="822960" y="3337560"/>
            <a:ext cx="4983480" cy="548640"/>
          </a:xfrm>
          <a:prstGeom prst="rect">
            <a:avLst/>
          </a:prstGeom>
          <a:noFill/>
          <a:ln/>
        </p:spPr>
        <p:txBody>
          <a:bodyPr wrap="square" lIns="0" tIns="0" rIns="0" bIns="0" rtlCol="0" anchor="t"/>
          <a:lstStyle/>
          <a:p>
            <a:pPr marL="0" indent="0">
              <a:buNone/>
            </a:pPr>
            <a:r>
              <a:rPr lang="en-US" sz="1150" dirty="0">
                <a:solidFill>
                  <a:srgbClr val="5A6B73"/>
                </a:solidFill>
                <a:latin typeface="Calibri" pitchFamily="34" charset="0"/>
                <a:ea typeface="Calibri" pitchFamily="34" charset="-122"/>
                <a:cs typeface="Calibri" pitchFamily="34" charset="-120"/>
              </a:rPr>
              <a:t>Numeric age of a person (e.g. "28").</a:t>
            </a:r>
            <a:endParaRPr lang="en-US" sz="1150" dirty="0"/>
          </a:p>
        </p:txBody>
      </p:sp>
      <p:sp>
        <p:nvSpPr>
          <p:cNvPr id="13" name="Shape 11"/>
          <p:cNvSpPr/>
          <p:nvPr/>
        </p:nvSpPr>
        <p:spPr>
          <a:xfrm>
            <a:off x="6126480" y="2880360"/>
            <a:ext cx="5486400" cy="1078992"/>
          </a:xfrm>
          <a:prstGeom prst="roundRect">
            <a:avLst>
              <a:gd name="adj" fmla="val 678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4" name="Text 12"/>
          <p:cNvSpPr/>
          <p:nvPr/>
        </p:nvSpPr>
        <p:spPr>
          <a:xfrm>
            <a:off x="6400800" y="3008376"/>
            <a:ext cx="4937760" cy="320040"/>
          </a:xfrm>
          <a:prstGeom prst="rect">
            <a:avLst/>
          </a:prstGeom>
          <a:noFill/>
          <a:ln/>
        </p:spPr>
        <p:txBody>
          <a:bodyPr wrap="square" lIns="0" tIns="0" rIns="0" bIns="0"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Addresses</a:t>
            </a:r>
            <a:endParaRPr lang="en-US" sz="1500" dirty="0"/>
          </a:p>
        </p:txBody>
      </p:sp>
      <p:sp>
        <p:nvSpPr>
          <p:cNvPr id="15" name="Text 13"/>
          <p:cNvSpPr/>
          <p:nvPr/>
        </p:nvSpPr>
        <p:spPr>
          <a:xfrm>
            <a:off x="6400800" y="3337560"/>
            <a:ext cx="4983480" cy="548640"/>
          </a:xfrm>
          <a:prstGeom prst="rect">
            <a:avLst/>
          </a:prstGeom>
          <a:noFill/>
          <a:ln/>
        </p:spPr>
        <p:txBody>
          <a:bodyPr wrap="square" lIns="0" tIns="0" rIns="0" bIns="0" rtlCol="0" anchor="t"/>
          <a:lstStyle/>
          <a:p>
            <a:pPr marL="0" indent="0">
              <a:buNone/>
            </a:pPr>
            <a:r>
              <a:rPr lang="en-US" sz="1150" dirty="0">
                <a:solidFill>
                  <a:srgbClr val="5A6B73"/>
                </a:solidFill>
                <a:latin typeface="Calibri" pitchFamily="34" charset="0"/>
                <a:ea typeface="Calibri" pitchFamily="34" charset="-122"/>
                <a:cs typeface="Calibri" pitchFamily="34" charset="-120"/>
              </a:rPr>
              <a:t>Streets + number, postal code, city, clinics and universities.</a:t>
            </a:r>
            <a:endParaRPr lang="en-US" sz="1150" dirty="0"/>
          </a:p>
        </p:txBody>
      </p:sp>
      <p:sp>
        <p:nvSpPr>
          <p:cNvPr id="16" name="Shape 14"/>
          <p:cNvSpPr/>
          <p:nvPr/>
        </p:nvSpPr>
        <p:spPr>
          <a:xfrm>
            <a:off x="548640" y="4069080"/>
            <a:ext cx="5486400" cy="1078992"/>
          </a:xfrm>
          <a:prstGeom prst="roundRect">
            <a:avLst>
              <a:gd name="adj" fmla="val 678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7" name="Text 15"/>
          <p:cNvSpPr/>
          <p:nvPr/>
        </p:nvSpPr>
        <p:spPr>
          <a:xfrm>
            <a:off x="822960" y="4197096"/>
            <a:ext cx="4937760" cy="320040"/>
          </a:xfrm>
          <a:prstGeom prst="rect">
            <a:avLst/>
          </a:prstGeom>
          <a:noFill/>
          <a:ln/>
        </p:spPr>
        <p:txBody>
          <a:bodyPr wrap="square" lIns="0" tIns="0" rIns="0" bIns="0"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Contact</a:t>
            </a:r>
            <a:endParaRPr lang="en-US" sz="1500" dirty="0"/>
          </a:p>
        </p:txBody>
      </p:sp>
      <p:sp>
        <p:nvSpPr>
          <p:cNvPr id="18" name="Text 16"/>
          <p:cNvSpPr/>
          <p:nvPr/>
        </p:nvSpPr>
        <p:spPr>
          <a:xfrm>
            <a:off x="822960" y="4526280"/>
            <a:ext cx="4983480" cy="548640"/>
          </a:xfrm>
          <a:prstGeom prst="rect">
            <a:avLst/>
          </a:prstGeom>
          <a:noFill/>
          <a:ln/>
        </p:spPr>
        <p:txBody>
          <a:bodyPr wrap="square" lIns="0" tIns="0" rIns="0" bIns="0" rtlCol="0" anchor="t"/>
          <a:lstStyle/>
          <a:p>
            <a:pPr marL="0" indent="0">
              <a:buNone/>
            </a:pPr>
            <a:r>
              <a:rPr lang="en-US" sz="1150" dirty="0">
                <a:solidFill>
                  <a:srgbClr val="5A6B73"/>
                </a:solidFill>
                <a:latin typeface="Calibri" pitchFamily="34" charset="0"/>
                <a:ea typeface="Calibri" pitchFamily="34" charset="-122"/>
                <a:cs typeface="Calibri" pitchFamily="34" charset="-120"/>
              </a:rPr>
              <a:t>Phone, fax, email.</a:t>
            </a:r>
            <a:endParaRPr lang="en-US" sz="1150" dirty="0"/>
          </a:p>
        </p:txBody>
      </p:sp>
      <p:sp>
        <p:nvSpPr>
          <p:cNvPr id="19" name="Shape 17"/>
          <p:cNvSpPr/>
          <p:nvPr/>
        </p:nvSpPr>
        <p:spPr>
          <a:xfrm>
            <a:off x="6126480" y="4069080"/>
            <a:ext cx="5486400" cy="1078992"/>
          </a:xfrm>
          <a:prstGeom prst="roundRect">
            <a:avLst>
              <a:gd name="adj" fmla="val 678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20" name="Text 18"/>
          <p:cNvSpPr/>
          <p:nvPr/>
        </p:nvSpPr>
        <p:spPr>
          <a:xfrm>
            <a:off x="6400800" y="4197096"/>
            <a:ext cx="4937760" cy="320040"/>
          </a:xfrm>
          <a:prstGeom prst="rect">
            <a:avLst/>
          </a:prstGeom>
          <a:noFill/>
          <a:ln/>
        </p:spPr>
        <p:txBody>
          <a:bodyPr wrap="square" lIns="0" tIns="0" rIns="0" bIns="0"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ID numbers</a:t>
            </a:r>
            <a:endParaRPr lang="en-US" sz="1500" dirty="0"/>
          </a:p>
        </p:txBody>
      </p:sp>
      <p:sp>
        <p:nvSpPr>
          <p:cNvPr id="21" name="Text 19"/>
          <p:cNvSpPr/>
          <p:nvPr/>
        </p:nvSpPr>
        <p:spPr>
          <a:xfrm>
            <a:off x="6400800" y="4526280"/>
            <a:ext cx="4983480" cy="548640"/>
          </a:xfrm>
          <a:prstGeom prst="rect">
            <a:avLst/>
          </a:prstGeom>
          <a:noFill/>
          <a:ln/>
        </p:spPr>
        <p:txBody>
          <a:bodyPr wrap="square" lIns="0" tIns="0" rIns="0" bIns="0" rtlCol="0" anchor="t"/>
          <a:lstStyle/>
          <a:p>
            <a:pPr marL="0" indent="0">
              <a:buNone/>
            </a:pPr>
            <a:r>
              <a:rPr lang="en-US" sz="1150" dirty="0">
                <a:solidFill>
                  <a:srgbClr val="5A6B73"/>
                </a:solidFill>
                <a:latin typeface="Calibri" pitchFamily="34" charset="0"/>
                <a:ea typeface="Calibri" pitchFamily="34" charset="-122"/>
                <a:cs typeface="Calibri" pitchFamily="34" charset="-120"/>
              </a:rPr>
              <a:t>Case, insurance, patient or document numbers.</a:t>
            </a:r>
            <a:endParaRPr lang="en-US" sz="1150" dirty="0"/>
          </a:p>
        </p:txBody>
      </p:sp>
      <p:sp>
        <p:nvSpPr>
          <p:cNvPr id="22" name="Shape 20"/>
          <p:cNvSpPr/>
          <p:nvPr/>
        </p:nvSpPr>
        <p:spPr>
          <a:xfrm>
            <a:off x="548640" y="5257800"/>
            <a:ext cx="5486400" cy="1078992"/>
          </a:xfrm>
          <a:prstGeom prst="roundRect">
            <a:avLst>
              <a:gd name="adj" fmla="val 678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23" name="Text 21"/>
          <p:cNvSpPr/>
          <p:nvPr/>
        </p:nvSpPr>
        <p:spPr>
          <a:xfrm>
            <a:off x="822960" y="5385816"/>
            <a:ext cx="4937760" cy="320040"/>
          </a:xfrm>
          <a:prstGeom prst="rect">
            <a:avLst/>
          </a:prstGeom>
          <a:noFill/>
          <a:ln/>
        </p:spPr>
        <p:txBody>
          <a:bodyPr wrap="square" lIns="0" tIns="0" rIns="0" bIns="0"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Profession</a:t>
            </a:r>
            <a:endParaRPr lang="en-US" sz="1500" dirty="0"/>
          </a:p>
        </p:txBody>
      </p:sp>
      <p:sp>
        <p:nvSpPr>
          <p:cNvPr id="24" name="Text 22"/>
          <p:cNvSpPr/>
          <p:nvPr/>
        </p:nvSpPr>
        <p:spPr>
          <a:xfrm>
            <a:off x="822960" y="5715000"/>
            <a:ext cx="4983480" cy="548640"/>
          </a:xfrm>
          <a:prstGeom prst="rect">
            <a:avLst/>
          </a:prstGeom>
          <a:noFill/>
          <a:ln/>
        </p:spPr>
        <p:txBody>
          <a:bodyPr wrap="square" lIns="0" tIns="0" rIns="0" bIns="0" rtlCol="0" anchor="t"/>
          <a:lstStyle/>
          <a:p>
            <a:pPr marL="0" indent="0">
              <a:buNone/>
            </a:pPr>
            <a:r>
              <a:rPr lang="en-US" sz="1150" dirty="0">
                <a:solidFill>
                  <a:srgbClr val="5A6B73"/>
                </a:solidFill>
                <a:latin typeface="Calibri" pitchFamily="34" charset="0"/>
                <a:ea typeface="Calibri" pitchFamily="34" charset="-122"/>
                <a:cs typeface="Calibri" pitchFamily="34" charset="-120"/>
              </a:rPr>
              <a:t>Occupation of patient or relatives (e.g. "Floristin").</a:t>
            </a:r>
            <a:endParaRPr lang="en-US" sz="1150" dirty="0"/>
          </a:p>
        </p:txBody>
      </p:sp>
      <p:sp>
        <p:nvSpPr>
          <p:cNvPr id="25" name="Shape 23"/>
          <p:cNvSpPr/>
          <p:nvPr/>
        </p:nvSpPr>
        <p:spPr>
          <a:xfrm>
            <a:off x="6126480" y="5257800"/>
            <a:ext cx="5486400" cy="1078992"/>
          </a:xfrm>
          <a:prstGeom prst="roundRect">
            <a:avLst>
              <a:gd name="adj" fmla="val 678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26" name="Text 24"/>
          <p:cNvSpPr/>
          <p:nvPr/>
        </p:nvSpPr>
        <p:spPr>
          <a:xfrm>
            <a:off x="6400800" y="5385816"/>
            <a:ext cx="4937760" cy="320040"/>
          </a:xfrm>
          <a:prstGeom prst="rect">
            <a:avLst/>
          </a:prstGeom>
          <a:noFill/>
          <a:ln/>
        </p:spPr>
        <p:txBody>
          <a:bodyPr wrap="square" lIns="0" tIns="0" rIns="0" bIns="0"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Titles</a:t>
            </a:r>
            <a:endParaRPr lang="en-US" sz="1500" dirty="0"/>
          </a:p>
        </p:txBody>
      </p:sp>
      <p:sp>
        <p:nvSpPr>
          <p:cNvPr id="27" name="Text 25"/>
          <p:cNvSpPr/>
          <p:nvPr/>
        </p:nvSpPr>
        <p:spPr>
          <a:xfrm>
            <a:off x="6400800" y="5715000"/>
            <a:ext cx="4983480" cy="548640"/>
          </a:xfrm>
          <a:prstGeom prst="rect">
            <a:avLst/>
          </a:prstGeom>
          <a:noFill/>
          <a:ln/>
        </p:spPr>
        <p:txBody>
          <a:bodyPr wrap="square" lIns="0" tIns="0" rIns="0" bIns="0" rtlCol="0" anchor="t"/>
          <a:lstStyle/>
          <a:p>
            <a:pPr marL="0" indent="0">
              <a:buNone/>
            </a:pPr>
            <a:r>
              <a:rPr lang="en-US" sz="1150" dirty="0">
                <a:solidFill>
                  <a:srgbClr val="5A6B73"/>
                </a:solidFill>
                <a:latin typeface="Calibri" pitchFamily="34" charset="0"/>
                <a:ea typeface="Calibri" pitchFamily="34" charset="-122"/>
                <a:cs typeface="Calibri" pitchFamily="34" charset="-120"/>
              </a:rPr>
              <a:t>Dr., Dr. med., Prof., PD - included even when standalone.</a:t>
            </a:r>
            <a:endParaRPr lang="en-US" sz="1150" dirty="0"/>
          </a:p>
        </p:txBody>
      </p:sp>
      <p:sp>
        <p:nvSpPr>
          <p:cNvPr id="28" name="Text 26"/>
          <p:cNvSpPr/>
          <p:nvPr/>
        </p:nvSpPr>
        <p:spPr>
          <a:xfrm>
            <a:off x="548640" y="6400800"/>
            <a:ext cx="10972800" cy="320040"/>
          </a:xfrm>
          <a:prstGeom prst="rect">
            <a:avLst/>
          </a:prstGeom>
          <a:noFill/>
          <a:ln/>
        </p:spPr>
        <p:txBody>
          <a:bodyPr wrap="square" lIns="0" tIns="0" rIns="0" bIns="0" rtlCol="0" anchor="ctr"/>
          <a:lstStyle/>
          <a:p>
            <a:pPr marL="0" indent="0" algn="ctr">
              <a:buNone/>
            </a:pPr>
            <a:r>
              <a:rPr lang="en-US" sz="1250" i="1" dirty="0">
                <a:solidFill>
                  <a:srgbClr val="5A6B73"/>
                </a:solidFill>
                <a:latin typeface="Calibri" pitchFamily="34" charset="0"/>
                <a:ea typeface="Calibri" pitchFamily="34" charset="-122"/>
                <a:cs typeface="Calibri" pitchFamily="34" charset="-120"/>
              </a:rPr>
              <a:t>PII is masked; clinical content (diagnoses, findings, plan) is kept intact.</a:t>
            </a:r>
            <a:endParaRPr lang="en-US" sz="1250" dirty="0"/>
          </a:p>
        </p:txBody>
      </p:sp>
      <p:sp>
        <p:nvSpPr>
          <p:cNvPr id="29" name="Text 27"/>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5A6B73"/>
                </a:solidFill>
                <a:latin typeface="Calibri" pitchFamily="34" charset="0"/>
                <a:ea typeface="Calibri" pitchFamily="34" charset="-122"/>
                <a:cs typeface="Calibri"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2A38"/>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02C39A"/>
                </a:solidFill>
                <a:latin typeface="Calibri" pitchFamily="34" charset="0"/>
                <a:ea typeface="Calibri" pitchFamily="34" charset="-122"/>
                <a:cs typeface="Calibri" pitchFamily="34" charset="-120"/>
              </a:rPr>
              <a:t>IMPLEMENTATION · AGENT 1</a:t>
            </a: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PII Detector prompt (local LLM)</a:t>
            </a:r>
            <a:endParaRPr lang="en-US" sz="3000" dirty="0"/>
          </a:p>
        </p:txBody>
      </p:sp>
      <p:sp>
        <p:nvSpPr>
          <p:cNvPr id="4" name="Text 2"/>
          <p:cNvSpPr/>
          <p:nvPr/>
        </p:nvSpPr>
        <p:spPr>
          <a:xfrm>
            <a:off x="548640" y="1371600"/>
            <a:ext cx="10058400" cy="320040"/>
          </a:xfrm>
          <a:prstGeom prst="rect">
            <a:avLst/>
          </a:prstGeom>
          <a:noFill/>
          <a:ln/>
        </p:spPr>
        <p:txBody>
          <a:bodyPr wrap="square" lIns="0" tIns="0" rIns="0" bIns="0" rtlCol="0" anchor="ctr"/>
          <a:lstStyle/>
          <a:p>
            <a:pPr marL="0" indent="0">
              <a:buNone/>
            </a:pPr>
            <a:r>
              <a:rPr lang="en-US" sz="1300" i="1" dirty="0">
                <a:solidFill>
                  <a:srgbClr val="9FB8C2"/>
                </a:solidFill>
                <a:latin typeface="Calibri" pitchFamily="34" charset="0"/>
                <a:ea typeface="Calibri" pitchFamily="34" charset="-122"/>
                <a:cs typeface="Calibri" pitchFamily="34" charset="-120"/>
              </a:rPr>
              <a:t>AI Agent · Ollama mistral:latest  ·  system message</a:t>
            </a:r>
            <a:endParaRPr lang="en-US" sz="1300" dirty="0"/>
          </a:p>
        </p:txBody>
      </p:sp>
      <p:sp>
        <p:nvSpPr>
          <p:cNvPr id="5" name="Shape 3"/>
          <p:cNvSpPr/>
          <p:nvPr/>
        </p:nvSpPr>
        <p:spPr>
          <a:xfrm>
            <a:off x="548640" y="1783080"/>
            <a:ext cx="11064240" cy="4526280"/>
          </a:xfrm>
          <a:prstGeom prst="roundRect">
            <a:avLst>
              <a:gd name="adj" fmla="val 1616"/>
            </a:avLst>
          </a:prstGeom>
          <a:solidFill>
            <a:srgbClr val="08222E"/>
          </a:solidFill>
          <a:ln/>
          <a:effectLst>
            <a:outerShdw blurRad="88900" dist="38100" dir="5400000" algn="bl" rotWithShape="0">
              <a:srgbClr val="0E2A38">
                <a:alpha val="10000"/>
              </a:srgbClr>
            </a:outerShdw>
          </a:effectLst>
        </p:spPr>
        <p:txBody>
          <a:bodyPr/>
          <a:lstStyle/>
          <a:p>
            <a:endParaRPr lang="es-ES"/>
          </a:p>
        </p:txBody>
      </p:sp>
      <p:sp>
        <p:nvSpPr>
          <p:cNvPr id="6" name="Text 4"/>
          <p:cNvSpPr/>
          <p:nvPr/>
        </p:nvSpPr>
        <p:spPr>
          <a:xfrm>
            <a:off x="822960" y="2011680"/>
            <a:ext cx="10515600" cy="4114800"/>
          </a:xfrm>
          <a:prstGeom prst="rect">
            <a:avLst/>
          </a:prstGeom>
          <a:noFill/>
          <a:ln/>
        </p:spPr>
        <p:txBody>
          <a:bodyPr wrap="square" lIns="0" tIns="0" rIns="0" bIns="0" rtlCol="0" anchor="t"/>
          <a:lstStyle/>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You are a strict clinical data-protection assistant (EU GDPR) for German</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medical texts. Extract EVERY personal identifier. Favor recall.</a:t>
            </a:r>
            <a:endParaRPr lang="en-US" sz="1120" dirty="0"/>
          </a:p>
          <a:p>
            <a:pPr marL="0" indent="0">
              <a:lnSpc>
                <a:spcPct val="100000"/>
              </a:lnSpc>
              <a:buNone/>
            </a:pP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EXTRACT:</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NAME       patients, physicians, relatives; bare surnames; ALL-CAPS; initials ("M.")</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TITLE      Dr., Dr. med., Prof., PD, Priv.-Doz. -- even when alone</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DATE       dates and standalone years (2006, 3.5., 8.5.2028)</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AGE        numeric age of a person ("28")</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ADDRESS    streets+number, postal code, city, clinic/university, ward</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PROFESSION occupation of patient/relative ("Floristin")</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CONTACT    phone, fax, email      ID_NUMBER  case/insurance/patient numbers</a:t>
            </a:r>
            <a:endParaRPr lang="en-US" sz="1120" dirty="0"/>
          </a:p>
          <a:p>
            <a:pPr marL="0" indent="0">
              <a:lnSpc>
                <a:spcPct val="100000"/>
              </a:lnSpc>
              <a:buNone/>
            </a:pP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RULES:</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1. Copy each value EXACTLY (verbatim substring). Never translate or invent.</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2. Split comma-separated name lists into separate entities.</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3. For "Title + Name" output BOTH the full form AND the bare name.</a:t>
            </a:r>
            <a:endParaRPr lang="en-US" sz="1120" dirty="0"/>
          </a:p>
          <a:p>
            <a:pPr marL="0" indent="0">
              <a:lnSpc>
                <a:spcPct val="100000"/>
              </a:lnSpc>
              <a:buNone/>
            </a:pP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NEVER EXTRACT: diagnoses, anatomical terms / vertebral levels (L4/5),</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department or treatment descriptions, measurements, lab values, drug</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names/doses, placeholders ("none", &lt;angle brackets&gt;).</a:t>
            </a:r>
            <a:endParaRPr lang="en-US" sz="1120" dirty="0"/>
          </a:p>
          <a:p>
            <a:pPr marL="0" indent="0">
              <a:lnSpc>
                <a:spcPct val="100000"/>
              </a:lnSpc>
              <a:buNone/>
            </a:pP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Return ONLY valid JSON:</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{"entities":[{"type":"NAME|TITLE|DATE|AGE|ADDRESS|PROFESSION|CONTACT|ID_NUMBER",</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"value":"&lt;verbatim&gt;"}]}</a:t>
            </a:r>
            <a:endParaRPr lang="en-US" sz="1120" dirty="0"/>
          </a:p>
        </p:txBody>
      </p:sp>
      <p:sp>
        <p:nvSpPr>
          <p:cNvPr id="7" name="Text 5"/>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02C39A"/>
                </a:solidFill>
                <a:latin typeface="Calibri" pitchFamily="34" charset="0"/>
                <a:ea typeface="Calibri" pitchFamily="34" charset="-122"/>
                <a:cs typeface="Calibri"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2A38"/>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02C39A"/>
                </a:solidFill>
                <a:latin typeface="Calibri" pitchFamily="34" charset="0"/>
                <a:ea typeface="Calibri" pitchFamily="34" charset="-122"/>
                <a:cs typeface="Calibri" pitchFamily="34" charset="-120"/>
              </a:rPr>
              <a:t>IMPLEMENTATION · AGENT 2</a:t>
            </a: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Clinical Summariser prompt (external LLM)</a:t>
            </a:r>
            <a:endParaRPr lang="en-US" sz="3000" dirty="0"/>
          </a:p>
        </p:txBody>
      </p:sp>
      <p:sp>
        <p:nvSpPr>
          <p:cNvPr id="4" name="Text 2"/>
          <p:cNvSpPr/>
          <p:nvPr/>
        </p:nvSpPr>
        <p:spPr>
          <a:xfrm>
            <a:off x="548640" y="1371600"/>
            <a:ext cx="10972800" cy="320040"/>
          </a:xfrm>
          <a:prstGeom prst="rect">
            <a:avLst/>
          </a:prstGeom>
          <a:noFill/>
          <a:ln/>
        </p:spPr>
        <p:txBody>
          <a:bodyPr wrap="square" lIns="0" tIns="0" rIns="0" bIns="0" rtlCol="0" anchor="ctr"/>
          <a:lstStyle/>
          <a:p>
            <a:pPr marL="0" indent="0">
              <a:buNone/>
            </a:pPr>
            <a:r>
              <a:rPr lang="en-US" sz="1300" i="1" dirty="0">
                <a:solidFill>
                  <a:srgbClr val="9FB8C2"/>
                </a:solidFill>
                <a:latin typeface="Calibri" pitchFamily="34" charset="0"/>
                <a:ea typeface="Calibri" pitchFamily="34" charset="-122"/>
                <a:cs typeface="Calibri" pitchFamily="34" charset="-120"/>
              </a:rPr>
              <a:t>AI Agent1 · Mistral Cloud  ·  system message  ·  input = pseudonymized text</a:t>
            </a:r>
            <a:endParaRPr lang="en-US" sz="1300" dirty="0"/>
          </a:p>
        </p:txBody>
      </p:sp>
      <p:sp>
        <p:nvSpPr>
          <p:cNvPr id="5" name="Shape 3"/>
          <p:cNvSpPr/>
          <p:nvPr/>
        </p:nvSpPr>
        <p:spPr>
          <a:xfrm>
            <a:off x="548640" y="1783080"/>
            <a:ext cx="11064240" cy="4023360"/>
          </a:xfrm>
          <a:prstGeom prst="roundRect">
            <a:avLst>
              <a:gd name="adj" fmla="val 1818"/>
            </a:avLst>
          </a:prstGeom>
          <a:solidFill>
            <a:srgbClr val="08222E"/>
          </a:solidFill>
          <a:ln/>
          <a:effectLst>
            <a:outerShdw blurRad="88900" dist="38100" dir="5400000" algn="bl" rotWithShape="0">
              <a:srgbClr val="0E2A38">
                <a:alpha val="10000"/>
              </a:srgbClr>
            </a:outerShdw>
          </a:effectLst>
        </p:spPr>
        <p:txBody>
          <a:bodyPr/>
          <a:lstStyle/>
          <a:p>
            <a:endParaRPr lang="es-ES"/>
          </a:p>
        </p:txBody>
      </p:sp>
      <p:sp>
        <p:nvSpPr>
          <p:cNvPr id="6" name="Text 4"/>
          <p:cNvSpPr/>
          <p:nvPr/>
        </p:nvSpPr>
        <p:spPr>
          <a:xfrm>
            <a:off x="822960" y="2057400"/>
            <a:ext cx="10515600" cy="3566160"/>
          </a:xfrm>
          <a:prstGeom prst="rect">
            <a:avLst/>
          </a:prstGeom>
          <a:noFill/>
          <a:ln/>
        </p:spPr>
        <p:txBody>
          <a:bodyPr wrap="square" lIns="0" tIns="0" rIns="0" bIns="0" rtlCol="0" anchor="t"/>
          <a:lstStyle/>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You are an expert clinical documentation assistant. Your task is to write a</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concise, professional medical summary (Epikrise / Verlaufsbericht) of the</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provided clinical note.</a:t>
            </a:r>
            <a:endParaRPr lang="en-US" sz="1250" dirty="0"/>
          </a:p>
          <a:p>
            <a:pPr marL="0" indent="0">
              <a:lnSpc>
                <a:spcPct val="105000"/>
              </a:lnSpc>
              <a:buNone/>
            </a:pP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CRITICAL PROCESSING LAWS:</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  1. VALUE PRESERVATION -- copy EVERY name, date and age VERBATIM from the</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     source. Never paraphrase or drop specific values.</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  2. NO HALLUCINATION -- do not add any medical fact, diagnosis, symptom or</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     history that is not explicitly stated in the source text.</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  3. MEDICAL RESTRUCTURING -- you may improve sentence flow, but only using</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     facts present in the source.</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  4. LANGUAGE -- German, professional Fachsprache.</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  5. FORMAT -- concise structured bullet points.</a:t>
            </a:r>
            <a:endParaRPr lang="en-US" sz="1250" dirty="0"/>
          </a:p>
        </p:txBody>
      </p:sp>
      <p:sp>
        <p:nvSpPr>
          <p:cNvPr id="7" name="Text 5"/>
          <p:cNvSpPr/>
          <p:nvPr/>
        </p:nvSpPr>
        <p:spPr>
          <a:xfrm>
            <a:off x="548640" y="5989320"/>
            <a:ext cx="11064240" cy="548640"/>
          </a:xfrm>
          <a:prstGeom prst="rect">
            <a:avLst/>
          </a:prstGeom>
          <a:noFill/>
          <a:ln/>
        </p:spPr>
        <p:txBody>
          <a:bodyPr wrap="square" lIns="0" tIns="0" rIns="0" bIns="0" rtlCol="0" anchor="ctr"/>
          <a:lstStyle/>
          <a:p>
            <a:pPr marL="0" indent="0">
              <a:buNone/>
            </a:pPr>
            <a:r>
              <a:rPr lang="en-US" sz="1300" i="1" dirty="0">
                <a:solidFill>
                  <a:srgbClr val="9FB8C2"/>
                </a:solidFill>
                <a:latin typeface="Calibri" pitchFamily="34" charset="0"/>
                <a:ea typeface="Calibri" pitchFamily="34" charset="-122"/>
                <a:cs typeface="Calibri" pitchFamily="34" charset="-120"/>
              </a:rPr>
              <a:t>The value-preservation rule is what lets de-pseudonymization (stage 5) reliably recover every identity.</a:t>
            </a:r>
            <a:endParaRPr lang="en-US" sz="1300" dirty="0"/>
          </a:p>
        </p:txBody>
      </p:sp>
      <p:sp>
        <p:nvSpPr>
          <p:cNvPr id="8" name="Text 6"/>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02C39A"/>
                </a:solidFill>
                <a:latin typeface="Calibri" pitchFamily="34" charset="0"/>
                <a:ea typeface="Calibri" pitchFamily="34" charset="-122"/>
                <a:cs typeface="Calibri"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028090"/>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t"/>
          <a:lstStyle/>
          <a:p>
            <a:pPr marL="0" indent="0">
              <a:buNone/>
            </a:pPr>
            <a:r>
              <a:rPr lang="en-US" sz="3000" b="1" dirty="0">
                <a:solidFill>
                  <a:srgbClr val="1B2A32"/>
                </a:solidFill>
                <a:latin typeface="Cambria" pitchFamily="34" charset="0"/>
                <a:ea typeface="Cambria" pitchFamily="34" charset="-122"/>
                <a:cs typeface="Cambria" pitchFamily="34" charset="-120"/>
              </a:rPr>
              <a:t>Measured performance on the corpus</a:t>
            </a:r>
            <a:endParaRPr lang="en-US" sz="3000" dirty="0"/>
          </a:p>
        </p:txBody>
      </p:sp>
      <p:sp>
        <p:nvSpPr>
          <p:cNvPr id="4" name="Text 2"/>
          <p:cNvSpPr/>
          <p:nvPr/>
        </p:nvSpPr>
        <p:spPr>
          <a:xfrm>
            <a:off x="548640" y="1371600"/>
            <a:ext cx="10972800" cy="320040"/>
          </a:xfrm>
          <a:prstGeom prst="rect">
            <a:avLst/>
          </a:prstGeom>
          <a:noFill/>
          <a:ln/>
        </p:spPr>
        <p:txBody>
          <a:bodyPr wrap="square" lIns="0" tIns="0" rIns="0" bIns="0" rtlCol="0" anchor="ctr"/>
          <a:lstStyle/>
          <a:p>
            <a:pPr marL="0" indent="0">
              <a:buNone/>
            </a:pPr>
            <a:r>
              <a:rPr lang="en-US" sz="1300" i="1" dirty="0">
                <a:solidFill>
                  <a:srgbClr val="5A6B73"/>
                </a:solidFill>
                <a:latin typeface="Calibri" pitchFamily="34" charset="0"/>
                <a:ea typeface="Calibri" pitchFamily="34" charset="-122"/>
                <a:cs typeface="Calibri" pitchFamily="34" charset="-120"/>
              </a:rPr>
              <a:t>Micro-average over 5 GraSCCo clinical notes · 100 ground-truth PII entities</a:t>
            </a:r>
            <a:endParaRPr lang="en-US" sz="1300" dirty="0"/>
          </a:p>
        </p:txBody>
      </p:sp>
      <p:sp>
        <p:nvSpPr>
          <p:cNvPr id="5" name="Text 3"/>
          <p:cNvSpPr/>
          <p:nvPr/>
        </p:nvSpPr>
        <p:spPr>
          <a:xfrm>
            <a:off x="548640" y="1828800"/>
            <a:ext cx="10972800" cy="320040"/>
          </a:xfrm>
          <a:prstGeom prst="rect">
            <a:avLst/>
          </a:prstGeom>
          <a:noFill/>
          <a:ln/>
        </p:spPr>
        <p:txBody>
          <a:bodyPr wrap="square" lIns="0" tIns="0" rIns="0" bIns="0" rtlCol="0" anchor="ctr"/>
          <a:lstStyle/>
          <a:p>
            <a:pPr marL="0" indent="0">
              <a:buNone/>
            </a:pPr>
            <a:r>
              <a:rPr lang="en-US" sz="1300" b="1" kern="0" spc="100" dirty="0">
                <a:solidFill>
                  <a:srgbClr val="1B2A32"/>
                </a:solidFill>
                <a:latin typeface="Calibri" pitchFamily="34" charset="0"/>
                <a:ea typeface="Calibri" pitchFamily="34" charset="-122"/>
                <a:cs typeface="Calibri" pitchFamily="34" charset="-120"/>
              </a:rPr>
              <a:t>PII DETECTION  (Regex + local LLM)</a:t>
            </a:r>
            <a:endParaRPr lang="en-US" sz="1300" dirty="0"/>
          </a:p>
        </p:txBody>
      </p:sp>
      <p:sp>
        <p:nvSpPr>
          <p:cNvPr id="6" name="Shape 4"/>
          <p:cNvSpPr/>
          <p:nvPr/>
        </p:nvSpPr>
        <p:spPr>
          <a:xfrm>
            <a:off x="548640" y="2240280"/>
            <a:ext cx="3520440" cy="1828800"/>
          </a:xfrm>
          <a:prstGeom prst="roundRect">
            <a:avLst>
              <a:gd name="adj" fmla="val 400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7" name="Text 5"/>
          <p:cNvSpPr/>
          <p:nvPr/>
        </p:nvSpPr>
        <p:spPr>
          <a:xfrm>
            <a:off x="548640" y="2468880"/>
            <a:ext cx="3520440" cy="914400"/>
          </a:xfrm>
          <a:prstGeom prst="rect">
            <a:avLst/>
          </a:prstGeom>
          <a:noFill/>
          <a:ln/>
        </p:spPr>
        <p:txBody>
          <a:bodyPr wrap="square" lIns="0" tIns="0" rIns="0" bIns="0" rtlCol="0" anchor="ctr"/>
          <a:lstStyle/>
          <a:p>
            <a:pPr marL="0" indent="0" algn="ctr">
              <a:buNone/>
            </a:pPr>
            <a:r>
              <a:rPr lang="en-US" sz="4600" b="1" dirty="0">
                <a:solidFill>
                  <a:srgbClr val="028090"/>
                </a:solidFill>
                <a:latin typeface="Cambria" pitchFamily="34" charset="0"/>
                <a:ea typeface="Cambria" pitchFamily="34" charset="-122"/>
                <a:cs typeface="Cambria" pitchFamily="34" charset="-120"/>
              </a:rPr>
              <a:t>0.921</a:t>
            </a:r>
            <a:endParaRPr lang="en-US" sz="4600" dirty="0"/>
          </a:p>
        </p:txBody>
      </p:sp>
      <p:sp>
        <p:nvSpPr>
          <p:cNvPr id="8" name="Text 6"/>
          <p:cNvSpPr/>
          <p:nvPr/>
        </p:nvSpPr>
        <p:spPr>
          <a:xfrm>
            <a:off x="548640" y="3474720"/>
            <a:ext cx="3520440" cy="457200"/>
          </a:xfrm>
          <a:prstGeom prst="rect">
            <a:avLst/>
          </a:prstGeom>
          <a:noFill/>
          <a:ln/>
        </p:spPr>
        <p:txBody>
          <a:bodyPr wrap="square" lIns="0" tIns="0" rIns="0" bIns="0" rtlCol="0" anchor="t"/>
          <a:lstStyle/>
          <a:p>
            <a:pPr marL="0" indent="0" algn="ctr">
              <a:buNone/>
            </a:pPr>
            <a:r>
              <a:rPr lang="en-US" sz="1300" dirty="0">
                <a:solidFill>
                  <a:srgbClr val="5A6B73"/>
                </a:solidFill>
                <a:latin typeface="Calibri" pitchFamily="34" charset="0"/>
                <a:ea typeface="Calibri" pitchFamily="34" charset="-122"/>
                <a:cs typeface="Calibri" pitchFamily="34" charset="-120"/>
              </a:rPr>
              <a:t>Precision</a:t>
            </a:r>
            <a:endParaRPr lang="en-US" sz="1300" dirty="0"/>
          </a:p>
        </p:txBody>
      </p:sp>
      <p:sp>
        <p:nvSpPr>
          <p:cNvPr id="9" name="Shape 7"/>
          <p:cNvSpPr/>
          <p:nvPr/>
        </p:nvSpPr>
        <p:spPr>
          <a:xfrm>
            <a:off x="4251960" y="2240280"/>
            <a:ext cx="3520440" cy="1828800"/>
          </a:xfrm>
          <a:prstGeom prst="roundRect">
            <a:avLst>
              <a:gd name="adj" fmla="val 400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0" name="Text 8"/>
          <p:cNvSpPr/>
          <p:nvPr/>
        </p:nvSpPr>
        <p:spPr>
          <a:xfrm>
            <a:off x="4251960" y="2468880"/>
            <a:ext cx="3520440" cy="914400"/>
          </a:xfrm>
          <a:prstGeom prst="rect">
            <a:avLst/>
          </a:prstGeom>
          <a:noFill/>
          <a:ln/>
        </p:spPr>
        <p:txBody>
          <a:bodyPr wrap="square" lIns="0" tIns="0" rIns="0" bIns="0" rtlCol="0" anchor="ctr"/>
          <a:lstStyle/>
          <a:p>
            <a:pPr marL="0" indent="0" algn="ctr">
              <a:buNone/>
            </a:pPr>
            <a:r>
              <a:rPr lang="en-US" sz="4600" b="1" dirty="0">
                <a:solidFill>
                  <a:srgbClr val="00A896"/>
                </a:solidFill>
                <a:latin typeface="Cambria" pitchFamily="34" charset="0"/>
                <a:ea typeface="Cambria" pitchFamily="34" charset="-122"/>
                <a:cs typeface="Cambria" pitchFamily="34" charset="-120"/>
              </a:rPr>
              <a:t>0.820</a:t>
            </a:r>
            <a:endParaRPr lang="en-US" sz="4600" dirty="0"/>
          </a:p>
        </p:txBody>
      </p:sp>
      <p:sp>
        <p:nvSpPr>
          <p:cNvPr id="11" name="Text 9"/>
          <p:cNvSpPr/>
          <p:nvPr/>
        </p:nvSpPr>
        <p:spPr>
          <a:xfrm>
            <a:off x="4251960" y="3474720"/>
            <a:ext cx="3520440" cy="457200"/>
          </a:xfrm>
          <a:prstGeom prst="rect">
            <a:avLst/>
          </a:prstGeom>
          <a:noFill/>
          <a:ln/>
        </p:spPr>
        <p:txBody>
          <a:bodyPr wrap="square" lIns="0" tIns="0" rIns="0" bIns="0" rtlCol="0" anchor="t"/>
          <a:lstStyle/>
          <a:p>
            <a:pPr marL="0" indent="0" algn="ctr">
              <a:buNone/>
            </a:pPr>
            <a:r>
              <a:rPr lang="en-US" sz="1300" dirty="0">
                <a:solidFill>
                  <a:srgbClr val="5A6B73"/>
                </a:solidFill>
                <a:latin typeface="Calibri" pitchFamily="34" charset="0"/>
                <a:ea typeface="Calibri" pitchFamily="34" charset="-122"/>
                <a:cs typeface="Calibri" pitchFamily="34" charset="-120"/>
              </a:rPr>
              <a:t>Recall (coverage)</a:t>
            </a:r>
            <a:endParaRPr lang="en-US" sz="1300" dirty="0"/>
          </a:p>
        </p:txBody>
      </p:sp>
      <p:sp>
        <p:nvSpPr>
          <p:cNvPr id="12" name="Shape 10"/>
          <p:cNvSpPr/>
          <p:nvPr/>
        </p:nvSpPr>
        <p:spPr>
          <a:xfrm>
            <a:off x="7955280" y="2240280"/>
            <a:ext cx="3657600" cy="1828800"/>
          </a:xfrm>
          <a:prstGeom prst="roundRect">
            <a:avLst>
              <a:gd name="adj" fmla="val 400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3" name="Text 11"/>
          <p:cNvSpPr/>
          <p:nvPr/>
        </p:nvSpPr>
        <p:spPr>
          <a:xfrm>
            <a:off x="7955280" y="2468880"/>
            <a:ext cx="3657600" cy="914400"/>
          </a:xfrm>
          <a:prstGeom prst="rect">
            <a:avLst/>
          </a:prstGeom>
          <a:noFill/>
          <a:ln/>
        </p:spPr>
        <p:txBody>
          <a:bodyPr wrap="square" lIns="0" tIns="0" rIns="0" bIns="0" rtlCol="0" anchor="ctr"/>
          <a:lstStyle/>
          <a:p>
            <a:pPr marL="0" indent="0" algn="ctr">
              <a:buNone/>
            </a:pPr>
            <a:r>
              <a:rPr lang="en-US" sz="4600" b="1" dirty="0">
                <a:solidFill>
                  <a:srgbClr val="02C39A"/>
                </a:solidFill>
                <a:latin typeface="Cambria" pitchFamily="34" charset="0"/>
                <a:ea typeface="Cambria" pitchFamily="34" charset="-122"/>
                <a:cs typeface="Cambria" pitchFamily="34" charset="-120"/>
              </a:rPr>
              <a:t>0.868</a:t>
            </a:r>
            <a:endParaRPr lang="en-US" sz="4600" dirty="0"/>
          </a:p>
        </p:txBody>
      </p:sp>
      <p:sp>
        <p:nvSpPr>
          <p:cNvPr id="14" name="Text 12"/>
          <p:cNvSpPr/>
          <p:nvPr/>
        </p:nvSpPr>
        <p:spPr>
          <a:xfrm>
            <a:off x="7955280" y="3474720"/>
            <a:ext cx="3657600" cy="457200"/>
          </a:xfrm>
          <a:prstGeom prst="rect">
            <a:avLst/>
          </a:prstGeom>
          <a:noFill/>
          <a:ln/>
        </p:spPr>
        <p:txBody>
          <a:bodyPr wrap="square" lIns="0" tIns="0" rIns="0" bIns="0" rtlCol="0" anchor="t"/>
          <a:lstStyle/>
          <a:p>
            <a:pPr marL="0" indent="0" algn="ctr">
              <a:buNone/>
            </a:pPr>
            <a:r>
              <a:rPr lang="en-US" sz="1300" dirty="0">
                <a:solidFill>
                  <a:srgbClr val="5A6B73"/>
                </a:solidFill>
                <a:latin typeface="Calibri" pitchFamily="34" charset="0"/>
                <a:ea typeface="Calibri" pitchFamily="34" charset="-122"/>
                <a:cs typeface="Calibri" pitchFamily="34" charset="-120"/>
              </a:rPr>
              <a:t>F1-score</a:t>
            </a:r>
            <a:endParaRPr lang="en-US" sz="1300" dirty="0"/>
          </a:p>
        </p:txBody>
      </p:sp>
      <p:sp>
        <p:nvSpPr>
          <p:cNvPr id="15" name="Text 13"/>
          <p:cNvSpPr/>
          <p:nvPr/>
        </p:nvSpPr>
        <p:spPr>
          <a:xfrm>
            <a:off x="548640" y="4251960"/>
            <a:ext cx="10972800" cy="320040"/>
          </a:xfrm>
          <a:prstGeom prst="rect">
            <a:avLst/>
          </a:prstGeom>
          <a:noFill/>
          <a:ln/>
        </p:spPr>
        <p:txBody>
          <a:bodyPr wrap="square" lIns="0" tIns="0" rIns="0" bIns="0" rtlCol="0" anchor="ctr"/>
          <a:lstStyle/>
          <a:p>
            <a:pPr marL="0" indent="0">
              <a:buNone/>
            </a:pPr>
            <a:r>
              <a:rPr lang="en-US" sz="1300" b="1" kern="0" spc="100" dirty="0">
                <a:solidFill>
                  <a:srgbClr val="1B2A32"/>
                </a:solidFill>
                <a:latin typeface="Calibri" pitchFamily="34" charset="0"/>
                <a:ea typeface="Calibri" pitchFamily="34" charset="-122"/>
                <a:cs typeface="Calibri" pitchFamily="34" charset="-120"/>
              </a:rPr>
              <a:t>RESTORATION  (de-pseudonymization, over what appears in the summary)</a:t>
            </a:r>
            <a:endParaRPr lang="en-US" sz="1300" dirty="0"/>
          </a:p>
        </p:txBody>
      </p:sp>
      <p:sp>
        <p:nvSpPr>
          <p:cNvPr id="16" name="Shape 14"/>
          <p:cNvSpPr/>
          <p:nvPr/>
        </p:nvSpPr>
        <p:spPr>
          <a:xfrm>
            <a:off x="548640" y="4663440"/>
            <a:ext cx="3520440" cy="1828800"/>
          </a:xfrm>
          <a:prstGeom prst="roundRect">
            <a:avLst>
              <a:gd name="adj" fmla="val 400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7" name="Text 15"/>
          <p:cNvSpPr/>
          <p:nvPr/>
        </p:nvSpPr>
        <p:spPr>
          <a:xfrm>
            <a:off x="548640" y="4892040"/>
            <a:ext cx="3520440" cy="914400"/>
          </a:xfrm>
          <a:prstGeom prst="rect">
            <a:avLst/>
          </a:prstGeom>
          <a:noFill/>
          <a:ln/>
        </p:spPr>
        <p:txBody>
          <a:bodyPr wrap="square" lIns="0" tIns="0" rIns="0" bIns="0" rtlCol="0" anchor="ctr"/>
          <a:lstStyle/>
          <a:p>
            <a:pPr marL="0" indent="0" algn="ctr">
              <a:buNone/>
            </a:pPr>
            <a:r>
              <a:rPr lang="en-US" sz="4600" b="1" dirty="0">
                <a:solidFill>
                  <a:srgbClr val="028090"/>
                </a:solidFill>
                <a:latin typeface="Cambria" pitchFamily="34" charset="0"/>
                <a:ea typeface="Cambria" pitchFamily="34" charset="-122"/>
                <a:cs typeface="Cambria" pitchFamily="34" charset="-120"/>
              </a:rPr>
              <a:t>0.942</a:t>
            </a:r>
            <a:endParaRPr lang="en-US" sz="4600" dirty="0"/>
          </a:p>
        </p:txBody>
      </p:sp>
      <p:sp>
        <p:nvSpPr>
          <p:cNvPr id="18" name="Text 16"/>
          <p:cNvSpPr/>
          <p:nvPr/>
        </p:nvSpPr>
        <p:spPr>
          <a:xfrm>
            <a:off x="548640" y="5897880"/>
            <a:ext cx="3520440" cy="457200"/>
          </a:xfrm>
          <a:prstGeom prst="rect">
            <a:avLst/>
          </a:prstGeom>
          <a:noFill/>
          <a:ln/>
        </p:spPr>
        <p:txBody>
          <a:bodyPr wrap="square" lIns="0" tIns="0" rIns="0" bIns="0" rtlCol="0" anchor="t"/>
          <a:lstStyle/>
          <a:p>
            <a:pPr marL="0" indent="0" algn="ctr">
              <a:buNone/>
            </a:pPr>
            <a:r>
              <a:rPr lang="en-US" sz="1300" dirty="0">
                <a:solidFill>
                  <a:srgbClr val="5A6B73"/>
                </a:solidFill>
                <a:latin typeface="Calibri" pitchFamily="34" charset="0"/>
                <a:ea typeface="Calibri" pitchFamily="34" charset="-122"/>
                <a:cs typeface="Calibri" pitchFamily="34" charset="-120"/>
              </a:rPr>
              <a:t>Recall</a:t>
            </a:r>
            <a:endParaRPr lang="en-US" sz="1300" dirty="0"/>
          </a:p>
        </p:txBody>
      </p:sp>
      <p:sp>
        <p:nvSpPr>
          <p:cNvPr id="19" name="Shape 17"/>
          <p:cNvSpPr/>
          <p:nvPr/>
        </p:nvSpPr>
        <p:spPr>
          <a:xfrm>
            <a:off x="4251960" y="4663440"/>
            <a:ext cx="3520440" cy="1828800"/>
          </a:xfrm>
          <a:prstGeom prst="roundRect">
            <a:avLst>
              <a:gd name="adj" fmla="val 400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20" name="Text 18"/>
          <p:cNvSpPr/>
          <p:nvPr/>
        </p:nvSpPr>
        <p:spPr>
          <a:xfrm>
            <a:off x="4251960" y="4892040"/>
            <a:ext cx="3520440" cy="914400"/>
          </a:xfrm>
          <a:prstGeom prst="rect">
            <a:avLst/>
          </a:prstGeom>
          <a:noFill/>
          <a:ln/>
        </p:spPr>
        <p:txBody>
          <a:bodyPr wrap="square" lIns="0" tIns="0" rIns="0" bIns="0" rtlCol="0" anchor="ctr"/>
          <a:lstStyle/>
          <a:p>
            <a:pPr marL="0" indent="0" algn="ctr">
              <a:buNone/>
            </a:pPr>
            <a:r>
              <a:rPr lang="en-US" sz="4600" b="1" dirty="0">
                <a:solidFill>
                  <a:srgbClr val="00A896"/>
                </a:solidFill>
                <a:latin typeface="Cambria" pitchFamily="34" charset="0"/>
                <a:ea typeface="Cambria" pitchFamily="34" charset="-122"/>
                <a:cs typeface="Cambria" pitchFamily="34" charset="-120"/>
              </a:rPr>
              <a:t>0.845</a:t>
            </a:r>
            <a:endParaRPr lang="en-US" sz="4600" dirty="0"/>
          </a:p>
        </p:txBody>
      </p:sp>
      <p:sp>
        <p:nvSpPr>
          <p:cNvPr id="21" name="Text 19"/>
          <p:cNvSpPr/>
          <p:nvPr/>
        </p:nvSpPr>
        <p:spPr>
          <a:xfrm>
            <a:off x="4251960" y="5897880"/>
            <a:ext cx="3520440" cy="457200"/>
          </a:xfrm>
          <a:prstGeom prst="rect">
            <a:avLst/>
          </a:prstGeom>
          <a:noFill/>
          <a:ln/>
        </p:spPr>
        <p:txBody>
          <a:bodyPr wrap="square" lIns="0" tIns="0" rIns="0" bIns="0" rtlCol="0" anchor="t"/>
          <a:lstStyle/>
          <a:p>
            <a:pPr marL="0" indent="0" algn="ctr">
              <a:buNone/>
            </a:pPr>
            <a:r>
              <a:rPr lang="en-US" sz="1300" dirty="0">
                <a:solidFill>
                  <a:srgbClr val="5A6B73"/>
                </a:solidFill>
                <a:latin typeface="Calibri" pitchFamily="34" charset="0"/>
                <a:ea typeface="Calibri" pitchFamily="34" charset="-122"/>
                <a:cs typeface="Calibri" pitchFamily="34" charset="-120"/>
              </a:rPr>
              <a:t>Precision</a:t>
            </a:r>
            <a:endParaRPr lang="en-US" sz="1300" dirty="0"/>
          </a:p>
        </p:txBody>
      </p:sp>
      <p:sp>
        <p:nvSpPr>
          <p:cNvPr id="22" name="Shape 20"/>
          <p:cNvSpPr/>
          <p:nvPr/>
        </p:nvSpPr>
        <p:spPr>
          <a:xfrm>
            <a:off x="7955280" y="4663440"/>
            <a:ext cx="3657600" cy="1828800"/>
          </a:xfrm>
          <a:prstGeom prst="roundRect">
            <a:avLst>
              <a:gd name="adj" fmla="val 400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23" name="Text 21"/>
          <p:cNvSpPr/>
          <p:nvPr/>
        </p:nvSpPr>
        <p:spPr>
          <a:xfrm>
            <a:off x="7955280" y="4892040"/>
            <a:ext cx="3657600" cy="914400"/>
          </a:xfrm>
          <a:prstGeom prst="rect">
            <a:avLst/>
          </a:prstGeom>
          <a:noFill/>
          <a:ln/>
        </p:spPr>
        <p:txBody>
          <a:bodyPr wrap="square" lIns="0" tIns="0" rIns="0" bIns="0" rtlCol="0" anchor="ctr"/>
          <a:lstStyle/>
          <a:p>
            <a:pPr marL="0" indent="0" algn="ctr">
              <a:buNone/>
            </a:pPr>
            <a:r>
              <a:rPr lang="en-US" sz="4600" b="1" dirty="0">
                <a:solidFill>
                  <a:srgbClr val="02C39A"/>
                </a:solidFill>
                <a:latin typeface="Cambria" pitchFamily="34" charset="0"/>
                <a:ea typeface="Cambria" pitchFamily="34" charset="-122"/>
                <a:cs typeface="Cambria" pitchFamily="34" charset="-120"/>
              </a:rPr>
              <a:t>0.891</a:t>
            </a:r>
            <a:endParaRPr lang="en-US" sz="4600" dirty="0"/>
          </a:p>
        </p:txBody>
      </p:sp>
      <p:sp>
        <p:nvSpPr>
          <p:cNvPr id="24" name="Text 22"/>
          <p:cNvSpPr/>
          <p:nvPr/>
        </p:nvSpPr>
        <p:spPr>
          <a:xfrm>
            <a:off x="7955280" y="5897880"/>
            <a:ext cx="3657600" cy="457200"/>
          </a:xfrm>
          <a:prstGeom prst="rect">
            <a:avLst/>
          </a:prstGeom>
          <a:noFill/>
          <a:ln/>
        </p:spPr>
        <p:txBody>
          <a:bodyPr wrap="square" lIns="0" tIns="0" rIns="0" bIns="0" rtlCol="0" anchor="t"/>
          <a:lstStyle/>
          <a:p>
            <a:pPr marL="0" indent="0" algn="ctr">
              <a:buNone/>
            </a:pPr>
            <a:r>
              <a:rPr lang="en-US" sz="1300" dirty="0">
                <a:solidFill>
                  <a:srgbClr val="5A6B73"/>
                </a:solidFill>
                <a:latin typeface="Calibri" pitchFamily="34" charset="0"/>
                <a:ea typeface="Calibri" pitchFamily="34" charset="-122"/>
                <a:cs typeface="Calibri" pitchFamily="34" charset="-120"/>
              </a:rPr>
              <a:t>F1-score</a:t>
            </a:r>
            <a:endParaRPr lang="en-US" sz="1300" dirty="0"/>
          </a:p>
        </p:txBody>
      </p:sp>
      <p:sp>
        <p:nvSpPr>
          <p:cNvPr id="25" name="Text 23"/>
          <p:cNvSpPr/>
          <p:nvPr/>
        </p:nvSpPr>
        <p:spPr>
          <a:xfrm>
            <a:off x="548640" y="6492240"/>
            <a:ext cx="10972800" cy="274320"/>
          </a:xfrm>
          <a:prstGeom prst="rect">
            <a:avLst/>
          </a:prstGeom>
          <a:noFill/>
          <a:ln/>
        </p:spPr>
        <p:txBody>
          <a:bodyPr wrap="square" lIns="0" tIns="0" rIns="0" bIns="0" rtlCol="0" anchor="ctr"/>
          <a:lstStyle/>
          <a:p>
            <a:pPr marL="0" indent="0" algn="ctr">
              <a:buNone/>
            </a:pPr>
            <a:r>
              <a:rPr lang="en-US" sz="1150" i="1" dirty="0">
                <a:solidFill>
                  <a:srgbClr val="5A6B73"/>
                </a:solidFill>
                <a:latin typeface="Calibri" pitchFamily="34" charset="0"/>
                <a:ea typeface="Calibri" pitchFamily="34" charset="-122"/>
                <a:cs typeface="Calibri" pitchFamily="34" charset="-120"/>
              </a:rPr>
              <a:t>82 of 100 identifiers detected · 7 false positives · near-perfect restoration of the entities the summary uses.</a:t>
            </a:r>
            <a:endParaRPr lang="en-US" sz="1150" dirty="0"/>
          </a:p>
        </p:txBody>
      </p:sp>
      <p:sp>
        <p:nvSpPr>
          <p:cNvPr id="26" name="Text 24"/>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5A6B73"/>
                </a:solidFill>
                <a:latin typeface="Calibri" pitchFamily="34" charset="0"/>
                <a:ea typeface="Calibri" pitchFamily="34" charset="-122"/>
                <a:cs typeface="Calibri"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028090"/>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t"/>
          <a:lstStyle/>
          <a:p>
            <a:pPr marL="0" indent="0">
              <a:buNone/>
            </a:pPr>
            <a:r>
              <a:rPr lang="en-US" sz="3000" b="1" dirty="0">
                <a:solidFill>
                  <a:srgbClr val="1B2A32"/>
                </a:solidFill>
                <a:latin typeface="Cambria" pitchFamily="34" charset="0"/>
                <a:ea typeface="Cambria" pitchFamily="34" charset="-122"/>
                <a:cs typeface="Cambria" pitchFamily="34" charset="-120"/>
              </a:rPr>
              <a:t>Regex only  vs  Regex + local LLM</a:t>
            </a:r>
            <a:endParaRPr lang="en-US" sz="3000" dirty="0"/>
          </a:p>
        </p:txBody>
      </p:sp>
      <p:sp>
        <p:nvSpPr>
          <p:cNvPr id="4" name="Shape 2"/>
          <p:cNvSpPr/>
          <p:nvPr/>
        </p:nvSpPr>
        <p:spPr>
          <a:xfrm>
            <a:off x="548640" y="1691640"/>
            <a:ext cx="2743200" cy="603504"/>
          </a:xfrm>
          <a:prstGeom prst="rect">
            <a:avLst/>
          </a:prstGeom>
          <a:solidFill>
            <a:srgbClr val="F4F7F8"/>
          </a:solidFill>
          <a:ln/>
        </p:spPr>
        <p:txBody>
          <a:bodyPr/>
          <a:lstStyle/>
          <a:p>
            <a:endParaRPr lang="es-ES"/>
          </a:p>
        </p:txBody>
      </p:sp>
      <p:sp>
        <p:nvSpPr>
          <p:cNvPr id="5" name="Shape 3"/>
          <p:cNvSpPr/>
          <p:nvPr/>
        </p:nvSpPr>
        <p:spPr>
          <a:xfrm>
            <a:off x="3291840" y="1691640"/>
            <a:ext cx="4023360" cy="603504"/>
          </a:xfrm>
          <a:prstGeom prst="rect">
            <a:avLst/>
          </a:prstGeom>
          <a:solidFill>
            <a:srgbClr val="5A6B73"/>
          </a:solidFill>
          <a:ln/>
        </p:spPr>
        <p:txBody>
          <a:bodyPr/>
          <a:lstStyle/>
          <a:p>
            <a:endParaRPr lang="es-ES"/>
          </a:p>
        </p:txBody>
      </p:sp>
      <p:sp>
        <p:nvSpPr>
          <p:cNvPr id="6" name="Shape 4"/>
          <p:cNvSpPr/>
          <p:nvPr/>
        </p:nvSpPr>
        <p:spPr>
          <a:xfrm>
            <a:off x="7315200" y="1691640"/>
            <a:ext cx="4846320" cy="603504"/>
          </a:xfrm>
          <a:prstGeom prst="rect">
            <a:avLst/>
          </a:prstGeom>
          <a:solidFill>
            <a:srgbClr val="028090"/>
          </a:solidFill>
          <a:ln/>
        </p:spPr>
        <p:txBody>
          <a:bodyPr/>
          <a:lstStyle/>
          <a:p>
            <a:endParaRPr lang="es-ES"/>
          </a:p>
        </p:txBody>
      </p:sp>
      <p:sp>
        <p:nvSpPr>
          <p:cNvPr id="7" name="Text 5"/>
          <p:cNvSpPr/>
          <p:nvPr/>
        </p:nvSpPr>
        <p:spPr>
          <a:xfrm>
            <a:off x="3291840" y="1691640"/>
            <a:ext cx="4023360" cy="6035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Regex only</a:t>
            </a:r>
            <a:endParaRPr lang="en-US" sz="1400" dirty="0"/>
          </a:p>
        </p:txBody>
      </p:sp>
      <p:sp>
        <p:nvSpPr>
          <p:cNvPr id="8" name="Text 6"/>
          <p:cNvSpPr/>
          <p:nvPr/>
        </p:nvSpPr>
        <p:spPr>
          <a:xfrm>
            <a:off x="7315200" y="1691640"/>
            <a:ext cx="4846320" cy="6035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Regex + local LLM (chosen)</a:t>
            </a:r>
            <a:endParaRPr lang="en-US" sz="1400" dirty="0"/>
          </a:p>
        </p:txBody>
      </p:sp>
      <p:sp>
        <p:nvSpPr>
          <p:cNvPr id="9" name="Shape 7"/>
          <p:cNvSpPr/>
          <p:nvPr/>
        </p:nvSpPr>
        <p:spPr>
          <a:xfrm>
            <a:off x="548640" y="2295144"/>
            <a:ext cx="11612880" cy="603504"/>
          </a:xfrm>
          <a:prstGeom prst="rect">
            <a:avLst/>
          </a:prstGeom>
          <a:solidFill>
            <a:srgbClr val="ECF3F4"/>
          </a:solidFill>
          <a:ln/>
        </p:spPr>
        <p:txBody>
          <a:bodyPr/>
          <a:lstStyle/>
          <a:p>
            <a:endParaRPr lang="es-ES"/>
          </a:p>
        </p:txBody>
      </p:sp>
      <p:sp>
        <p:nvSpPr>
          <p:cNvPr id="10" name="Text 8"/>
          <p:cNvSpPr/>
          <p:nvPr/>
        </p:nvSpPr>
        <p:spPr>
          <a:xfrm>
            <a:off x="685800" y="2295144"/>
            <a:ext cx="2560320" cy="603504"/>
          </a:xfrm>
          <a:prstGeom prst="rect">
            <a:avLst/>
          </a:prstGeom>
          <a:noFill/>
          <a:ln/>
        </p:spPr>
        <p:txBody>
          <a:bodyPr wrap="square" lIns="0" tIns="0" rIns="0" bIns="0" rtlCol="0" anchor="ctr"/>
          <a:lstStyle/>
          <a:p>
            <a:pPr marL="0" indent="0">
              <a:buNone/>
            </a:pPr>
            <a:r>
              <a:rPr lang="en-US" sz="1200" b="1" dirty="0">
                <a:solidFill>
                  <a:srgbClr val="1B2A32"/>
                </a:solidFill>
                <a:latin typeface="Calibri" pitchFamily="34" charset="0"/>
                <a:ea typeface="Calibri" pitchFamily="34" charset="-122"/>
                <a:cs typeface="Calibri" pitchFamily="34" charset="-120"/>
              </a:rPr>
              <a:t>Approach</a:t>
            </a:r>
            <a:endParaRPr lang="en-US" sz="1200" dirty="0"/>
          </a:p>
        </p:txBody>
      </p:sp>
      <p:sp>
        <p:nvSpPr>
          <p:cNvPr id="11" name="Text 9"/>
          <p:cNvSpPr/>
          <p:nvPr/>
        </p:nvSpPr>
        <p:spPr>
          <a:xfrm>
            <a:off x="3429000" y="2295144"/>
            <a:ext cx="3749040" cy="603504"/>
          </a:xfrm>
          <a:prstGeom prst="rect">
            <a:avLst/>
          </a:prstGeom>
          <a:noFill/>
          <a:ln/>
        </p:spPr>
        <p:txBody>
          <a:bodyPr wrap="square" lIns="0" tIns="0" rIns="0" bIns="0" rtlCol="0" anchor="ctr"/>
          <a:lstStyle/>
          <a:p>
            <a:pPr marL="0" indent="0">
              <a:buNone/>
            </a:pPr>
            <a:r>
              <a:rPr lang="en-US" sz="1150" dirty="0">
                <a:solidFill>
                  <a:srgbClr val="5A6B73"/>
                </a:solidFill>
                <a:latin typeface="Calibri" pitchFamily="34" charset="0"/>
                <a:ea typeface="Calibri" pitchFamily="34" charset="-122"/>
                <a:cs typeface="Calibri" pitchFamily="34" charset="-120"/>
              </a:rPr>
              <a:t>Pattern rules for IDs, dates, formats</a:t>
            </a:r>
            <a:endParaRPr lang="en-US" sz="1150" dirty="0"/>
          </a:p>
        </p:txBody>
      </p:sp>
      <p:sp>
        <p:nvSpPr>
          <p:cNvPr id="12" name="Text 10"/>
          <p:cNvSpPr/>
          <p:nvPr/>
        </p:nvSpPr>
        <p:spPr>
          <a:xfrm>
            <a:off x="7452360" y="2295144"/>
            <a:ext cx="4572000" cy="603504"/>
          </a:xfrm>
          <a:prstGeom prst="rect">
            <a:avLst/>
          </a:prstGeom>
          <a:noFill/>
          <a:ln/>
        </p:spPr>
        <p:txBody>
          <a:bodyPr wrap="square" lIns="0" tIns="0" rIns="0" bIns="0" rtlCol="0" anchor="ctr"/>
          <a:lstStyle/>
          <a:p>
            <a:pPr marL="0" indent="0">
              <a:buNone/>
            </a:pPr>
            <a:r>
              <a:rPr lang="en-US" sz="1150" dirty="0">
                <a:solidFill>
                  <a:srgbClr val="1B2A32"/>
                </a:solidFill>
                <a:latin typeface="Calibri" pitchFamily="34" charset="0"/>
                <a:ea typeface="Calibri" pitchFamily="34" charset="-122"/>
                <a:cs typeface="Calibri" pitchFamily="34" charset="-120"/>
              </a:rPr>
              <a:t>Regex pre-pass + LLM reads context</a:t>
            </a:r>
            <a:endParaRPr lang="en-US" sz="1150" dirty="0"/>
          </a:p>
        </p:txBody>
      </p:sp>
      <p:sp>
        <p:nvSpPr>
          <p:cNvPr id="13" name="Shape 11"/>
          <p:cNvSpPr/>
          <p:nvPr/>
        </p:nvSpPr>
        <p:spPr>
          <a:xfrm>
            <a:off x="548640" y="2898648"/>
            <a:ext cx="11612880" cy="603504"/>
          </a:xfrm>
          <a:prstGeom prst="rect">
            <a:avLst/>
          </a:prstGeom>
          <a:solidFill>
            <a:srgbClr val="FFFFFF"/>
          </a:solidFill>
          <a:ln/>
        </p:spPr>
        <p:txBody>
          <a:bodyPr/>
          <a:lstStyle/>
          <a:p>
            <a:endParaRPr lang="es-ES"/>
          </a:p>
        </p:txBody>
      </p:sp>
      <p:sp>
        <p:nvSpPr>
          <p:cNvPr id="14" name="Text 12"/>
          <p:cNvSpPr/>
          <p:nvPr/>
        </p:nvSpPr>
        <p:spPr>
          <a:xfrm>
            <a:off x="685800" y="2898648"/>
            <a:ext cx="2560320" cy="603504"/>
          </a:xfrm>
          <a:prstGeom prst="rect">
            <a:avLst/>
          </a:prstGeom>
          <a:noFill/>
          <a:ln/>
        </p:spPr>
        <p:txBody>
          <a:bodyPr wrap="square" lIns="0" tIns="0" rIns="0" bIns="0" rtlCol="0" anchor="ctr"/>
          <a:lstStyle/>
          <a:p>
            <a:pPr marL="0" indent="0">
              <a:buNone/>
            </a:pPr>
            <a:r>
              <a:rPr lang="en-US" sz="1200" b="1" dirty="0">
                <a:solidFill>
                  <a:srgbClr val="1B2A32"/>
                </a:solidFill>
                <a:latin typeface="Calibri" pitchFamily="34" charset="0"/>
                <a:ea typeface="Calibri" pitchFamily="34" charset="-122"/>
                <a:cs typeface="Calibri" pitchFamily="34" charset="-120"/>
              </a:rPr>
              <a:t>Speed</a:t>
            </a:r>
            <a:endParaRPr lang="en-US" sz="1200" dirty="0"/>
          </a:p>
        </p:txBody>
      </p:sp>
      <p:sp>
        <p:nvSpPr>
          <p:cNvPr id="15" name="Text 13"/>
          <p:cNvSpPr/>
          <p:nvPr/>
        </p:nvSpPr>
        <p:spPr>
          <a:xfrm>
            <a:off x="3429000" y="2898648"/>
            <a:ext cx="3749040" cy="603504"/>
          </a:xfrm>
          <a:prstGeom prst="rect">
            <a:avLst/>
          </a:prstGeom>
          <a:noFill/>
          <a:ln/>
        </p:spPr>
        <p:txBody>
          <a:bodyPr wrap="square" lIns="0" tIns="0" rIns="0" bIns="0" rtlCol="0" anchor="ctr"/>
          <a:lstStyle/>
          <a:p>
            <a:pPr marL="0" indent="0">
              <a:buNone/>
            </a:pPr>
            <a:r>
              <a:rPr lang="en-US" sz="1150" dirty="0">
                <a:solidFill>
                  <a:srgbClr val="5A6B73"/>
                </a:solidFill>
                <a:latin typeface="Calibri" pitchFamily="34" charset="0"/>
                <a:ea typeface="Calibri" pitchFamily="34" charset="-122"/>
                <a:cs typeface="Calibri" pitchFamily="34" charset="-120"/>
              </a:rPr>
              <a:t>Fastest - near-instant</a:t>
            </a:r>
            <a:endParaRPr lang="en-US" sz="1150" dirty="0"/>
          </a:p>
        </p:txBody>
      </p:sp>
      <p:sp>
        <p:nvSpPr>
          <p:cNvPr id="16" name="Text 14"/>
          <p:cNvSpPr/>
          <p:nvPr/>
        </p:nvSpPr>
        <p:spPr>
          <a:xfrm>
            <a:off x="7452360" y="2898648"/>
            <a:ext cx="4572000" cy="603504"/>
          </a:xfrm>
          <a:prstGeom prst="rect">
            <a:avLst/>
          </a:prstGeom>
          <a:noFill/>
          <a:ln/>
        </p:spPr>
        <p:txBody>
          <a:bodyPr wrap="square" lIns="0" tIns="0" rIns="0" bIns="0" rtlCol="0" anchor="ctr"/>
          <a:lstStyle/>
          <a:p>
            <a:pPr marL="0" indent="0">
              <a:buNone/>
            </a:pPr>
            <a:r>
              <a:rPr lang="en-US" sz="1150" dirty="0">
                <a:solidFill>
                  <a:srgbClr val="1B2A32"/>
                </a:solidFill>
                <a:latin typeface="Calibri" pitchFamily="34" charset="0"/>
                <a:ea typeface="Calibri" pitchFamily="34" charset="-122"/>
                <a:cs typeface="Calibri" pitchFamily="34" charset="-120"/>
              </a:rPr>
              <a:t>Moderate - model inference per doc</a:t>
            </a:r>
            <a:endParaRPr lang="en-US" sz="1150" dirty="0"/>
          </a:p>
        </p:txBody>
      </p:sp>
      <p:sp>
        <p:nvSpPr>
          <p:cNvPr id="17" name="Shape 15"/>
          <p:cNvSpPr/>
          <p:nvPr/>
        </p:nvSpPr>
        <p:spPr>
          <a:xfrm>
            <a:off x="548640" y="3502152"/>
            <a:ext cx="11612880" cy="603504"/>
          </a:xfrm>
          <a:prstGeom prst="rect">
            <a:avLst/>
          </a:prstGeom>
          <a:solidFill>
            <a:srgbClr val="ECF3F4"/>
          </a:solidFill>
          <a:ln/>
        </p:spPr>
        <p:txBody>
          <a:bodyPr/>
          <a:lstStyle/>
          <a:p>
            <a:endParaRPr lang="es-ES"/>
          </a:p>
        </p:txBody>
      </p:sp>
      <p:sp>
        <p:nvSpPr>
          <p:cNvPr id="18" name="Text 16"/>
          <p:cNvSpPr/>
          <p:nvPr/>
        </p:nvSpPr>
        <p:spPr>
          <a:xfrm>
            <a:off x="685800" y="3502152"/>
            <a:ext cx="2560320" cy="603504"/>
          </a:xfrm>
          <a:prstGeom prst="rect">
            <a:avLst/>
          </a:prstGeom>
          <a:noFill/>
          <a:ln/>
        </p:spPr>
        <p:txBody>
          <a:bodyPr wrap="square" lIns="0" tIns="0" rIns="0" bIns="0" rtlCol="0" anchor="ctr"/>
          <a:lstStyle/>
          <a:p>
            <a:pPr marL="0" indent="0">
              <a:buNone/>
            </a:pPr>
            <a:r>
              <a:rPr lang="en-US" sz="1200" b="1" dirty="0">
                <a:solidFill>
                  <a:srgbClr val="1B2A32"/>
                </a:solidFill>
                <a:latin typeface="Calibri" pitchFamily="34" charset="0"/>
                <a:ea typeface="Calibri" pitchFamily="34" charset="-122"/>
                <a:cs typeface="Calibri" pitchFamily="34" charset="-120"/>
              </a:rPr>
              <a:t>Free-text names</a:t>
            </a:r>
            <a:endParaRPr lang="en-US" sz="1200" dirty="0"/>
          </a:p>
        </p:txBody>
      </p:sp>
      <p:sp>
        <p:nvSpPr>
          <p:cNvPr id="19" name="Text 17"/>
          <p:cNvSpPr/>
          <p:nvPr/>
        </p:nvSpPr>
        <p:spPr>
          <a:xfrm>
            <a:off x="3429000" y="3502152"/>
            <a:ext cx="3749040" cy="603504"/>
          </a:xfrm>
          <a:prstGeom prst="rect">
            <a:avLst/>
          </a:prstGeom>
          <a:noFill/>
          <a:ln/>
        </p:spPr>
        <p:txBody>
          <a:bodyPr wrap="square" lIns="0" tIns="0" rIns="0" bIns="0" rtlCol="0" anchor="ctr"/>
          <a:lstStyle/>
          <a:p>
            <a:pPr marL="0" indent="0">
              <a:buNone/>
            </a:pPr>
            <a:r>
              <a:rPr lang="en-US" sz="1150" dirty="0">
                <a:solidFill>
                  <a:srgbClr val="5A6B73"/>
                </a:solidFill>
                <a:latin typeface="Calibri" pitchFamily="34" charset="0"/>
                <a:ea typeface="Calibri" pitchFamily="34" charset="-122"/>
                <a:cs typeface="Calibri" pitchFamily="34" charset="-120"/>
              </a:rPr>
              <a:t>Misses unstructured ones</a:t>
            </a:r>
            <a:endParaRPr lang="en-US" sz="1150" dirty="0"/>
          </a:p>
        </p:txBody>
      </p:sp>
      <p:sp>
        <p:nvSpPr>
          <p:cNvPr id="20" name="Text 18"/>
          <p:cNvSpPr/>
          <p:nvPr/>
        </p:nvSpPr>
        <p:spPr>
          <a:xfrm>
            <a:off x="7452360" y="3502152"/>
            <a:ext cx="4572000" cy="603504"/>
          </a:xfrm>
          <a:prstGeom prst="rect">
            <a:avLst/>
          </a:prstGeom>
          <a:noFill/>
          <a:ln/>
        </p:spPr>
        <p:txBody>
          <a:bodyPr wrap="square" lIns="0" tIns="0" rIns="0" bIns="0" rtlCol="0" anchor="ctr"/>
          <a:lstStyle/>
          <a:p>
            <a:pPr marL="0" indent="0">
              <a:buNone/>
            </a:pPr>
            <a:r>
              <a:rPr lang="en-US" sz="1150" dirty="0">
                <a:solidFill>
                  <a:srgbClr val="1B2A32"/>
                </a:solidFill>
                <a:latin typeface="Calibri" pitchFamily="34" charset="0"/>
                <a:ea typeface="Calibri" pitchFamily="34" charset="-122"/>
                <a:cs typeface="Calibri" pitchFamily="34" charset="-120"/>
              </a:rPr>
              <a:t>Catches them by context</a:t>
            </a:r>
            <a:endParaRPr lang="en-US" sz="1150" dirty="0"/>
          </a:p>
        </p:txBody>
      </p:sp>
      <p:sp>
        <p:nvSpPr>
          <p:cNvPr id="21" name="Shape 19"/>
          <p:cNvSpPr/>
          <p:nvPr/>
        </p:nvSpPr>
        <p:spPr>
          <a:xfrm>
            <a:off x="548640" y="4105656"/>
            <a:ext cx="11612880" cy="603504"/>
          </a:xfrm>
          <a:prstGeom prst="rect">
            <a:avLst/>
          </a:prstGeom>
          <a:solidFill>
            <a:srgbClr val="FFFFFF"/>
          </a:solidFill>
          <a:ln/>
        </p:spPr>
        <p:txBody>
          <a:bodyPr/>
          <a:lstStyle/>
          <a:p>
            <a:endParaRPr lang="es-ES"/>
          </a:p>
        </p:txBody>
      </p:sp>
      <p:sp>
        <p:nvSpPr>
          <p:cNvPr id="22" name="Text 20"/>
          <p:cNvSpPr/>
          <p:nvPr/>
        </p:nvSpPr>
        <p:spPr>
          <a:xfrm>
            <a:off x="685800" y="4105656"/>
            <a:ext cx="2560320" cy="603504"/>
          </a:xfrm>
          <a:prstGeom prst="rect">
            <a:avLst/>
          </a:prstGeom>
          <a:noFill/>
          <a:ln/>
        </p:spPr>
        <p:txBody>
          <a:bodyPr wrap="square" lIns="0" tIns="0" rIns="0" bIns="0" rtlCol="0" anchor="ctr"/>
          <a:lstStyle/>
          <a:p>
            <a:pPr marL="0" indent="0">
              <a:buNone/>
            </a:pPr>
            <a:r>
              <a:rPr lang="en-US" sz="1200" b="1" dirty="0">
                <a:solidFill>
                  <a:srgbClr val="1B2A32"/>
                </a:solidFill>
                <a:latin typeface="Calibri" pitchFamily="34" charset="0"/>
                <a:ea typeface="Calibri" pitchFamily="34" charset="-122"/>
                <a:cs typeface="Calibri" pitchFamily="34" charset="-120"/>
              </a:rPr>
              <a:t>Consistency</a:t>
            </a:r>
            <a:endParaRPr lang="en-US" sz="1200" dirty="0"/>
          </a:p>
        </p:txBody>
      </p:sp>
      <p:sp>
        <p:nvSpPr>
          <p:cNvPr id="23" name="Text 21"/>
          <p:cNvSpPr/>
          <p:nvPr/>
        </p:nvSpPr>
        <p:spPr>
          <a:xfrm>
            <a:off x="3429000" y="4105656"/>
            <a:ext cx="3749040" cy="603504"/>
          </a:xfrm>
          <a:prstGeom prst="rect">
            <a:avLst/>
          </a:prstGeom>
          <a:noFill/>
          <a:ln/>
        </p:spPr>
        <p:txBody>
          <a:bodyPr wrap="square" lIns="0" tIns="0" rIns="0" bIns="0" rtlCol="0" anchor="ctr"/>
          <a:lstStyle/>
          <a:p>
            <a:pPr marL="0" indent="0">
              <a:buNone/>
            </a:pPr>
            <a:r>
              <a:rPr lang="en-US" sz="1150" dirty="0">
                <a:solidFill>
                  <a:srgbClr val="5A6B73"/>
                </a:solidFill>
                <a:latin typeface="Calibri" pitchFamily="34" charset="0"/>
                <a:ea typeface="Calibri" pitchFamily="34" charset="-122"/>
                <a:cs typeface="Calibri" pitchFamily="34" charset="-120"/>
              </a:rPr>
              <a:t>Fully deterministic</a:t>
            </a:r>
            <a:endParaRPr lang="en-US" sz="1150" dirty="0"/>
          </a:p>
        </p:txBody>
      </p:sp>
      <p:sp>
        <p:nvSpPr>
          <p:cNvPr id="24" name="Text 22"/>
          <p:cNvSpPr/>
          <p:nvPr/>
        </p:nvSpPr>
        <p:spPr>
          <a:xfrm>
            <a:off x="7452360" y="4105656"/>
            <a:ext cx="4572000" cy="603504"/>
          </a:xfrm>
          <a:prstGeom prst="rect">
            <a:avLst/>
          </a:prstGeom>
          <a:noFill/>
          <a:ln/>
        </p:spPr>
        <p:txBody>
          <a:bodyPr wrap="square" lIns="0" tIns="0" rIns="0" bIns="0" rtlCol="0" anchor="ctr"/>
          <a:lstStyle/>
          <a:p>
            <a:pPr marL="0" indent="0">
              <a:buNone/>
            </a:pPr>
            <a:r>
              <a:rPr lang="en-US" sz="1150" dirty="0">
                <a:solidFill>
                  <a:srgbClr val="1B2A32"/>
                </a:solidFill>
                <a:latin typeface="Calibri" pitchFamily="34" charset="0"/>
                <a:ea typeface="Calibri" pitchFamily="34" charset="-122"/>
                <a:cs typeface="Calibri" pitchFamily="34" charset="-120"/>
              </a:rPr>
              <a:t>Stable, regex-anchored; LLM varies a bit</a:t>
            </a:r>
            <a:endParaRPr lang="en-US" sz="1150" dirty="0"/>
          </a:p>
        </p:txBody>
      </p:sp>
      <p:sp>
        <p:nvSpPr>
          <p:cNvPr id="25" name="Shape 23"/>
          <p:cNvSpPr/>
          <p:nvPr/>
        </p:nvSpPr>
        <p:spPr>
          <a:xfrm>
            <a:off x="548640" y="4709160"/>
            <a:ext cx="11612880" cy="603504"/>
          </a:xfrm>
          <a:prstGeom prst="rect">
            <a:avLst/>
          </a:prstGeom>
          <a:solidFill>
            <a:srgbClr val="ECF3F4"/>
          </a:solidFill>
          <a:ln/>
        </p:spPr>
        <p:txBody>
          <a:bodyPr/>
          <a:lstStyle/>
          <a:p>
            <a:endParaRPr lang="es-ES"/>
          </a:p>
        </p:txBody>
      </p:sp>
      <p:sp>
        <p:nvSpPr>
          <p:cNvPr id="26" name="Text 24"/>
          <p:cNvSpPr/>
          <p:nvPr/>
        </p:nvSpPr>
        <p:spPr>
          <a:xfrm>
            <a:off x="685800" y="4709160"/>
            <a:ext cx="2560320" cy="603504"/>
          </a:xfrm>
          <a:prstGeom prst="rect">
            <a:avLst/>
          </a:prstGeom>
          <a:noFill/>
          <a:ln/>
        </p:spPr>
        <p:txBody>
          <a:bodyPr wrap="square" lIns="0" tIns="0" rIns="0" bIns="0" rtlCol="0" anchor="ctr"/>
          <a:lstStyle/>
          <a:p>
            <a:pPr marL="0" indent="0">
              <a:buNone/>
            </a:pPr>
            <a:r>
              <a:rPr lang="en-US" sz="1200" b="1" dirty="0">
                <a:solidFill>
                  <a:srgbClr val="1B2A32"/>
                </a:solidFill>
                <a:latin typeface="Calibri" pitchFamily="34" charset="0"/>
                <a:ea typeface="Calibri" pitchFamily="34" charset="-122"/>
                <a:cs typeface="Calibri" pitchFamily="34" charset="-120"/>
              </a:rPr>
              <a:t>Precision / Recall</a:t>
            </a:r>
            <a:endParaRPr lang="en-US" sz="1200" dirty="0"/>
          </a:p>
        </p:txBody>
      </p:sp>
      <p:sp>
        <p:nvSpPr>
          <p:cNvPr id="27" name="Text 25"/>
          <p:cNvSpPr/>
          <p:nvPr/>
        </p:nvSpPr>
        <p:spPr>
          <a:xfrm>
            <a:off x="3429000" y="4709160"/>
            <a:ext cx="3749040" cy="603504"/>
          </a:xfrm>
          <a:prstGeom prst="rect">
            <a:avLst/>
          </a:prstGeom>
          <a:noFill/>
          <a:ln/>
        </p:spPr>
        <p:txBody>
          <a:bodyPr wrap="square" lIns="0" tIns="0" rIns="0" bIns="0" rtlCol="0" anchor="ctr"/>
          <a:lstStyle/>
          <a:p>
            <a:pPr marL="0" indent="0">
              <a:buNone/>
            </a:pPr>
            <a:r>
              <a:rPr lang="en-US" sz="1150" dirty="0">
                <a:solidFill>
                  <a:srgbClr val="5A6B73"/>
                </a:solidFill>
                <a:latin typeface="Calibri" pitchFamily="34" charset="0"/>
                <a:ea typeface="Calibri" pitchFamily="34" charset="-122"/>
                <a:cs typeface="Calibri" pitchFamily="34" charset="-120"/>
              </a:rPr>
              <a:t>High precision, low recall</a:t>
            </a:r>
            <a:endParaRPr lang="en-US" sz="1150" dirty="0"/>
          </a:p>
        </p:txBody>
      </p:sp>
      <p:sp>
        <p:nvSpPr>
          <p:cNvPr id="28" name="Text 26"/>
          <p:cNvSpPr/>
          <p:nvPr/>
        </p:nvSpPr>
        <p:spPr>
          <a:xfrm>
            <a:off x="7452360" y="4709160"/>
            <a:ext cx="4572000" cy="603504"/>
          </a:xfrm>
          <a:prstGeom prst="rect">
            <a:avLst/>
          </a:prstGeom>
          <a:noFill/>
          <a:ln/>
        </p:spPr>
        <p:txBody>
          <a:bodyPr wrap="square" lIns="0" tIns="0" rIns="0" bIns="0" rtlCol="0" anchor="ctr"/>
          <a:lstStyle/>
          <a:p>
            <a:pPr marL="0" indent="0">
              <a:buNone/>
            </a:pPr>
            <a:r>
              <a:rPr lang="en-US" sz="1150" dirty="0">
                <a:solidFill>
                  <a:srgbClr val="1B2A32"/>
                </a:solidFill>
                <a:latin typeface="Calibri" pitchFamily="34" charset="0"/>
                <a:ea typeface="Calibri" pitchFamily="34" charset="-122"/>
                <a:cs typeface="Calibri" pitchFamily="34" charset="-120"/>
              </a:rPr>
              <a:t>Best balance: P 0.92 · R 0.82</a:t>
            </a:r>
            <a:endParaRPr lang="en-US" sz="1150" dirty="0"/>
          </a:p>
        </p:txBody>
      </p:sp>
      <p:sp>
        <p:nvSpPr>
          <p:cNvPr id="29" name="Shape 27"/>
          <p:cNvSpPr/>
          <p:nvPr/>
        </p:nvSpPr>
        <p:spPr>
          <a:xfrm>
            <a:off x="548640" y="5312664"/>
            <a:ext cx="11612880" cy="603504"/>
          </a:xfrm>
          <a:prstGeom prst="rect">
            <a:avLst/>
          </a:prstGeom>
          <a:solidFill>
            <a:srgbClr val="FFFFFF"/>
          </a:solidFill>
          <a:ln/>
        </p:spPr>
        <p:txBody>
          <a:bodyPr/>
          <a:lstStyle/>
          <a:p>
            <a:endParaRPr lang="es-ES"/>
          </a:p>
        </p:txBody>
      </p:sp>
      <p:sp>
        <p:nvSpPr>
          <p:cNvPr id="30" name="Text 28"/>
          <p:cNvSpPr/>
          <p:nvPr/>
        </p:nvSpPr>
        <p:spPr>
          <a:xfrm>
            <a:off x="685800" y="5312664"/>
            <a:ext cx="2560320" cy="603504"/>
          </a:xfrm>
          <a:prstGeom prst="rect">
            <a:avLst/>
          </a:prstGeom>
          <a:noFill/>
          <a:ln/>
        </p:spPr>
        <p:txBody>
          <a:bodyPr wrap="square" lIns="0" tIns="0" rIns="0" bIns="0" rtlCol="0" anchor="ctr"/>
          <a:lstStyle/>
          <a:p>
            <a:pPr marL="0" indent="0">
              <a:buNone/>
            </a:pPr>
            <a:r>
              <a:rPr lang="en-US" sz="1200" b="1" dirty="0">
                <a:solidFill>
                  <a:srgbClr val="1B2A32"/>
                </a:solidFill>
                <a:latin typeface="Calibri" pitchFamily="34" charset="0"/>
                <a:ea typeface="Calibri" pitchFamily="34" charset="-122"/>
                <a:cs typeface="Calibri" pitchFamily="34" charset="-120"/>
              </a:rPr>
              <a:t>Best for</a:t>
            </a:r>
            <a:endParaRPr lang="en-US" sz="1200" dirty="0"/>
          </a:p>
        </p:txBody>
      </p:sp>
      <p:sp>
        <p:nvSpPr>
          <p:cNvPr id="31" name="Text 29"/>
          <p:cNvSpPr/>
          <p:nvPr/>
        </p:nvSpPr>
        <p:spPr>
          <a:xfrm>
            <a:off x="3429000" y="5312664"/>
            <a:ext cx="3749040" cy="603504"/>
          </a:xfrm>
          <a:prstGeom prst="rect">
            <a:avLst/>
          </a:prstGeom>
          <a:noFill/>
          <a:ln/>
        </p:spPr>
        <p:txBody>
          <a:bodyPr wrap="square" lIns="0" tIns="0" rIns="0" bIns="0" rtlCol="0" anchor="ctr"/>
          <a:lstStyle/>
          <a:p>
            <a:pPr marL="0" indent="0">
              <a:buNone/>
            </a:pPr>
            <a:r>
              <a:rPr lang="en-US" sz="1150" dirty="0">
                <a:solidFill>
                  <a:srgbClr val="5A6B73"/>
                </a:solidFill>
                <a:latin typeface="Calibri" pitchFamily="34" charset="0"/>
                <a:ea typeface="Calibri" pitchFamily="34" charset="-122"/>
                <a:cs typeface="Calibri" pitchFamily="34" charset="-120"/>
              </a:rPr>
              <a:t>Structured fields, baseline</a:t>
            </a:r>
            <a:endParaRPr lang="en-US" sz="1150" dirty="0"/>
          </a:p>
        </p:txBody>
      </p:sp>
      <p:sp>
        <p:nvSpPr>
          <p:cNvPr id="32" name="Text 30"/>
          <p:cNvSpPr/>
          <p:nvPr/>
        </p:nvSpPr>
        <p:spPr>
          <a:xfrm>
            <a:off x="7452360" y="5312664"/>
            <a:ext cx="4572000" cy="603504"/>
          </a:xfrm>
          <a:prstGeom prst="rect">
            <a:avLst/>
          </a:prstGeom>
          <a:noFill/>
          <a:ln/>
        </p:spPr>
        <p:txBody>
          <a:bodyPr wrap="square" lIns="0" tIns="0" rIns="0" bIns="0" rtlCol="0" anchor="ctr"/>
          <a:lstStyle/>
          <a:p>
            <a:pPr marL="0" indent="0">
              <a:buNone/>
            </a:pPr>
            <a:r>
              <a:rPr lang="en-US" sz="1150" dirty="0">
                <a:solidFill>
                  <a:srgbClr val="1B2A32"/>
                </a:solidFill>
                <a:latin typeface="Calibri" pitchFamily="34" charset="0"/>
                <a:ea typeface="Calibri" pitchFamily="34" charset="-122"/>
                <a:cs typeface="Calibri" pitchFamily="34" charset="-120"/>
              </a:rPr>
              <a:t>Production privacy guarantee</a:t>
            </a:r>
            <a:endParaRPr lang="en-US" sz="1150" dirty="0"/>
          </a:p>
        </p:txBody>
      </p:sp>
      <p:sp>
        <p:nvSpPr>
          <p:cNvPr id="33" name="Shape 31"/>
          <p:cNvSpPr/>
          <p:nvPr/>
        </p:nvSpPr>
        <p:spPr>
          <a:xfrm>
            <a:off x="548640" y="5989320"/>
            <a:ext cx="11064240" cy="713232"/>
          </a:xfrm>
          <a:prstGeom prst="roundRect">
            <a:avLst>
              <a:gd name="adj" fmla="val 10256"/>
            </a:avLst>
          </a:prstGeom>
          <a:solidFill>
            <a:srgbClr val="0E2A38"/>
          </a:solidFill>
          <a:ln/>
          <a:effectLst>
            <a:outerShdw blurRad="88900" dist="38100" dir="5400000" algn="bl" rotWithShape="0">
              <a:srgbClr val="0E2A38">
                <a:alpha val="10000"/>
              </a:srgbClr>
            </a:outerShdw>
          </a:effectLst>
        </p:spPr>
        <p:txBody>
          <a:bodyPr/>
          <a:lstStyle/>
          <a:p>
            <a:endParaRPr lang="es-ES"/>
          </a:p>
        </p:txBody>
      </p:sp>
      <p:sp>
        <p:nvSpPr>
          <p:cNvPr id="34" name="Text 32"/>
          <p:cNvSpPr/>
          <p:nvPr/>
        </p:nvSpPr>
        <p:spPr>
          <a:xfrm>
            <a:off x="868680" y="6053328"/>
            <a:ext cx="10424160" cy="585216"/>
          </a:xfrm>
          <a:prstGeom prst="rect">
            <a:avLst/>
          </a:prstGeom>
          <a:noFill/>
          <a:ln/>
        </p:spPr>
        <p:txBody>
          <a:bodyPr wrap="square" lIns="0" tIns="0" rIns="0" bIns="0"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Our choice:  </a:t>
            </a:r>
            <a:r>
              <a:rPr lang="en-US" sz="1300" dirty="0">
                <a:solidFill>
                  <a:srgbClr val="FFFFFF"/>
                </a:solidFill>
                <a:latin typeface="Calibri" pitchFamily="34" charset="0"/>
                <a:ea typeface="Calibri" pitchFamily="34" charset="-122"/>
                <a:cs typeface="Calibri" pitchFamily="34" charset="-120"/>
              </a:rPr>
              <a:t>the hybrid. Regex gives speed and precision on structured fields; the local LLM recovers the free-text names regex misses - coverage is what prevents leaks.</a:t>
            </a:r>
            <a:endParaRPr lang="en-US" sz="1300" dirty="0"/>
          </a:p>
        </p:txBody>
      </p:sp>
      <p:sp>
        <p:nvSpPr>
          <p:cNvPr id="35" name="Text 33"/>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5A6B73"/>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028090"/>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t"/>
          <a:lstStyle/>
          <a:p>
            <a:pPr marL="0" indent="0">
              <a:buNone/>
            </a:pPr>
            <a:r>
              <a:rPr lang="en-US" sz="3000" b="1" dirty="0">
                <a:solidFill>
                  <a:srgbClr val="1B2A32"/>
                </a:solidFill>
                <a:latin typeface="Cambria" pitchFamily="34" charset="0"/>
                <a:ea typeface="Cambria" pitchFamily="34" charset="-122"/>
                <a:cs typeface="Cambria" pitchFamily="34" charset="-120"/>
              </a:rPr>
              <a:t>Regex vs Regex + local LLM - the numbers</a:t>
            </a:r>
            <a:endParaRPr lang="en-US" sz="3000" dirty="0"/>
          </a:p>
        </p:txBody>
      </p:sp>
      <p:sp>
        <p:nvSpPr>
          <p:cNvPr id="4" name="Text 2"/>
          <p:cNvSpPr/>
          <p:nvPr/>
        </p:nvSpPr>
        <p:spPr>
          <a:xfrm>
            <a:off x="548640" y="1371600"/>
            <a:ext cx="10058400" cy="320040"/>
          </a:xfrm>
          <a:prstGeom prst="rect">
            <a:avLst/>
          </a:prstGeom>
          <a:noFill/>
          <a:ln/>
        </p:spPr>
        <p:txBody>
          <a:bodyPr wrap="square" lIns="0" tIns="0" rIns="0" bIns="0" rtlCol="0" anchor="ctr"/>
          <a:lstStyle/>
          <a:p>
            <a:pPr marL="0" indent="0">
              <a:buNone/>
            </a:pPr>
            <a:r>
              <a:rPr lang="en-US" sz="1300" i="1" dirty="0">
                <a:solidFill>
                  <a:srgbClr val="5A6B73"/>
                </a:solidFill>
                <a:latin typeface="Calibri" pitchFamily="34" charset="0"/>
                <a:ea typeface="Calibri" pitchFamily="34" charset="-122"/>
                <a:cs typeface="Calibri" pitchFamily="34" charset="-120"/>
              </a:rPr>
              <a:t>Detection scores by metric · higher is better</a:t>
            </a:r>
            <a:endParaRPr lang="en-US" sz="1300" dirty="0"/>
          </a:p>
        </p:txBody>
      </p:sp>
      <p:graphicFrame>
        <p:nvGraphicFramePr>
          <p:cNvPr id="5" name="Chart 0"/>
          <p:cNvGraphicFramePr/>
          <p:nvPr/>
        </p:nvGraphicFramePr>
        <p:xfrm>
          <a:off x="502920" y="1828800"/>
          <a:ext cx="72237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955280" y="1828800"/>
            <a:ext cx="3657600" cy="4114800"/>
          </a:xfrm>
          <a:prstGeom prst="roundRect">
            <a:avLst>
              <a:gd name="adj" fmla="val 2000"/>
            </a:avLst>
          </a:prstGeom>
          <a:solidFill>
            <a:srgbClr val="0E2A38"/>
          </a:solidFill>
          <a:ln/>
          <a:effectLst>
            <a:outerShdw blurRad="88900" dist="38100" dir="5400000" algn="bl" rotWithShape="0">
              <a:srgbClr val="0E2A38">
                <a:alpha val="10000"/>
              </a:srgbClr>
            </a:outerShdw>
          </a:effectLst>
        </p:spPr>
        <p:txBody>
          <a:bodyPr/>
          <a:lstStyle/>
          <a:p>
            <a:endParaRPr lang="es-ES"/>
          </a:p>
        </p:txBody>
      </p:sp>
      <p:sp>
        <p:nvSpPr>
          <p:cNvPr id="7" name="Text 4"/>
          <p:cNvSpPr/>
          <p:nvPr/>
        </p:nvSpPr>
        <p:spPr>
          <a:xfrm>
            <a:off x="8229600" y="2057400"/>
            <a:ext cx="3200400" cy="365760"/>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What the chart shows</a:t>
            </a:r>
            <a:endParaRPr lang="en-US" sz="1400" dirty="0"/>
          </a:p>
        </p:txBody>
      </p:sp>
      <p:sp>
        <p:nvSpPr>
          <p:cNvPr id="8" name="Text 5"/>
          <p:cNvSpPr/>
          <p:nvPr/>
        </p:nvSpPr>
        <p:spPr>
          <a:xfrm>
            <a:off x="8229600" y="2468880"/>
            <a:ext cx="3154680" cy="3291840"/>
          </a:xfrm>
          <a:prstGeom prst="rect">
            <a:avLst/>
          </a:prstGeom>
          <a:noFill/>
          <a:ln/>
        </p:spPr>
        <p:txBody>
          <a:bodyPr wrap="square" lIns="0" tIns="0" rIns="0" bIns="0" rtlCol="0" anchor="t"/>
          <a:lstStyle/>
          <a:p>
            <a:pPr marL="0" indent="0">
              <a:lnSpc>
                <a:spcPct val="105000"/>
              </a:lnSpc>
              <a:buNone/>
            </a:pPr>
            <a:r>
              <a:rPr lang="en-US" sz="1300" b="1" dirty="0">
                <a:solidFill>
                  <a:srgbClr val="FFFFFF"/>
                </a:solidFill>
                <a:latin typeface="Calibri" pitchFamily="34" charset="0"/>
                <a:ea typeface="Calibri" pitchFamily="34" charset="-122"/>
                <a:cs typeface="Calibri" pitchFamily="34" charset="-120"/>
              </a:rPr>
              <a:t>Precision stays high
</a:t>
            </a:r>
            <a:endParaRPr lang="en-US" sz="1300" dirty="0"/>
          </a:p>
          <a:p>
            <a:pPr marL="0" indent="0">
              <a:lnSpc>
                <a:spcPct val="105000"/>
              </a:lnSpc>
              <a:buNone/>
            </a:pPr>
            <a:r>
              <a:rPr lang="en-US" sz="1200" dirty="0">
                <a:solidFill>
                  <a:srgbClr val="CADDE4"/>
                </a:solidFill>
                <a:latin typeface="Calibri" pitchFamily="34" charset="0"/>
                <a:ea typeface="Calibri" pitchFamily="34" charset="-122"/>
                <a:cs typeface="Calibri" pitchFamily="34" charset="-120"/>
              </a:rPr>
              <a:t>0.88 → 0.92. Both approaches rarely flag non-PII.
</a:t>
            </a:r>
            <a:endParaRPr lang="en-US" sz="1300" dirty="0"/>
          </a:p>
          <a:p>
            <a:pPr marL="0" indent="0">
              <a:lnSpc>
                <a:spcPct val="105000"/>
              </a:lnSpc>
              <a:buNone/>
            </a:pPr>
            <a:r>
              <a:rPr lang="en-US" sz="1300" b="1" dirty="0">
                <a:solidFill>
                  <a:srgbClr val="FFFFFF"/>
                </a:solidFill>
                <a:latin typeface="Calibri" pitchFamily="34" charset="0"/>
                <a:ea typeface="Calibri" pitchFamily="34" charset="-122"/>
                <a:cs typeface="Calibri" pitchFamily="34" charset="-120"/>
              </a:rPr>
              <a:t>Recall is the big jump
</a:t>
            </a:r>
            <a:endParaRPr lang="en-US" sz="1300" dirty="0"/>
          </a:p>
          <a:p>
            <a:pPr marL="0" indent="0">
              <a:lnSpc>
                <a:spcPct val="105000"/>
              </a:lnSpc>
              <a:buNone/>
            </a:pPr>
            <a:r>
              <a:rPr lang="en-US" sz="1200" dirty="0">
                <a:solidFill>
                  <a:srgbClr val="CADDE4"/>
                </a:solidFill>
                <a:latin typeface="Calibri" pitchFamily="34" charset="0"/>
                <a:ea typeface="Calibri" pitchFamily="34" charset="-122"/>
                <a:cs typeface="Calibri" pitchFamily="34" charset="-120"/>
              </a:rPr>
              <a:t>0.52 → 0.82 (+0.30). The local LLM catches the free-text names regex misses.
</a:t>
            </a:r>
            <a:endParaRPr lang="en-US" sz="1300" dirty="0"/>
          </a:p>
          <a:p>
            <a:pPr marL="0" indent="0">
              <a:lnSpc>
                <a:spcPct val="105000"/>
              </a:lnSpc>
              <a:buNone/>
            </a:pPr>
            <a:r>
              <a:rPr lang="en-US" sz="1300" b="1" dirty="0">
                <a:solidFill>
                  <a:srgbClr val="FFFFFF"/>
                </a:solidFill>
                <a:latin typeface="Calibri" pitchFamily="34" charset="0"/>
                <a:ea typeface="Calibri" pitchFamily="34" charset="-122"/>
                <a:cs typeface="Calibri" pitchFamily="34" charset="-120"/>
              </a:rPr>
              <a:t>F1 follows
</a:t>
            </a:r>
            <a:endParaRPr lang="en-US" sz="1300" dirty="0"/>
          </a:p>
          <a:p>
            <a:pPr marL="0" indent="0">
              <a:lnSpc>
                <a:spcPct val="105000"/>
              </a:lnSpc>
              <a:buNone/>
            </a:pPr>
            <a:r>
              <a:rPr lang="en-US" sz="1200" dirty="0">
                <a:solidFill>
                  <a:srgbClr val="CADDE4"/>
                </a:solidFill>
                <a:latin typeface="Calibri" pitchFamily="34" charset="0"/>
                <a:ea typeface="Calibri" pitchFamily="34" charset="-122"/>
                <a:cs typeface="Calibri" pitchFamily="34" charset="-120"/>
              </a:rPr>
              <a:t>0.65 → 0.87. Coverage is what closes the leak gap.</a:t>
            </a:r>
            <a:endParaRPr lang="en-US" sz="1300" dirty="0"/>
          </a:p>
        </p:txBody>
      </p:sp>
      <p:sp>
        <p:nvSpPr>
          <p:cNvPr id="9" name="Text 6"/>
          <p:cNvSpPr/>
          <p:nvPr/>
        </p:nvSpPr>
        <p:spPr>
          <a:xfrm>
            <a:off x="548640" y="6172200"/>
            <a:ext cx="11064240" cy="411480"/>
          </a:xfrm>
          <a:prstGeom prst="rect">
            <a:avLst/>
          </a:prstGeom>
          <a:noFill/>
          <a:ln/>
        </p:spPr>
        <p:txBody>
          <a:bodyPr wrap="square" lIns="0" tIns="0" rIns="0" bIns="0" rtlCol="0" anchor="ctr"/>
          <a:lstStyle/>
          <a:p>
            <a:pPr marL="0" indent="0" algn="ctr">
              <a:buNone/>
            </a:pPr>
            <a:endParaRPr lang="en-US" sz="1050" dirty="0"/>
          </a:p>
        </p:txBody>
      </p:sp>
      <p:sp>
        <p:nvSpPr>
          <p:cNvPr id="10" name="Text 7"/>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5A6B73"/>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2A38"/>
        </a:solidFill>
        <a:effectLst/>
      </p:bgPr>
    </p:bg>
    <p:spTree>
      <p:nvGrpSpPr>
        <p:cNvPr id="1" name=""/>
        <p:cNvGrpSpPr/>
        <p:nvPr/>
      </p:nvGrpSpPr>
      <p:grpSpPr>
        <a:xfrm>
          <a:off x="0" y="0"/>
          <a:ext cx="0" cy="0"/>
          <a:chOff x="0" y="0"/>
          <a:chExt cx="0" cy="0"/>
        </a:xfrm>
      </p:grpSpPr>
      <p:sp>
        <p:nvSpPr>
          <p:cNvPr id="2" name="Shape 0"/>
          <p:cNvSpPr/>
          <p:nvPr/>
        </p:nvSpPr>
        <p:spPr>
          <a:xfrm>
            <a:off x="-1371600" y="4206240"/>
            <a:ext cx="4023360" cy="4023360"/>
          </a:xfrm>
          <a:prstGeom prst="ellipse">
            <a:avLst/>
          </a:prstGeom>
          <a:solidFill>
            <a:srgbClr val="028090">
              <a:alpha val="34000"/>
            </a:srgbClr>
          </a:solidFill>
          <a:ln/>
        </p:spPr>
        <p:txBody>
          <a:bodyPr/>
          <a:lstStyle/>
          <a:p>
            <a:endParaRPr lang="es-ES"/>
          </a:p>
        </p:txBody>
      </p:sp>
      <p:sp>
        <p:nvSpPr>
          <p:cNvPr id="3" name="Text 1"/>
          <p:cNvSpPr/>
          <p:nvPr/>
        </p:nvSpPr>
        <p:spPr>
          <a:xfrm>
            <a:off x="822960" y="914400"/>
            <a:ext cx="7315200" cy="274320"/>
          </a:xfrm>
          <a:prstGeom prst="rect">
            <a:avLst/>
          </a:prstGeom>
          <a:noFill/>
          <a:ln/>
        </p:spPr>
        <p:txBody>
          <a:bodyPr wrap="square" lIns="0" tIns="0" rIns="0" bIns="0" rtlCol="0" anchor="ctr"/>
          <a:lstStyle/>
          <a:p>
            <a:pPr marL="0" indent="0">
              <a:buNone/>
            </a:pPr>
            <a:r>
              <a:rPr lang="en-US" sz="1200" b="1" kern="0" spc="300" dirty="0">
                <a:solidFill>
                  <a:srgbClr val="02C39A"/>
                </a:solidFill>
                <a:latin typeface="Calibri" pitchFamily="34" charset="0"/>
                <a:ea typeface="Calibri" pitchFamily="34" charset="-122"/>
                <a:cs typeface="Calibri" pitchFamily="34" charset="-120"/>
              </a:rPr>
              <a:t>CONCLUSION</a:t>
            </a:r>
            <a:endParaRPr lang="en-US" sz="1200" dirty="0"/>
          </a:p>
        </p:txBody>
      </p:sp>
      <p:sp>
        <p:nvSpPr>
          <p:cNvPr id="4" name="Text 2"/>
          <p:cNvSpPr/>
          <p:nvPr/>
        </p:nvSpPr>
        <p:spPr>
          <a:xfrm>
            <a:off x="822960" y="1325880"/>
            <a:ext cx="10058400" cy="1463040"/>
          </a:xfrm>
          <a:prstGeom prst="rect">
            <a:avLst/>
          </a:prstGeom>
          <a:noFill/>
          <a:ln/>
        </p:spPr>
        <p:txBody>
          <a:bodyPr wrap="square" lIns="0" tIns="0" rIns="0" bIns="0" rtlCol="0" anchor="ctr"/>
          <a:lstStyle/>
          <a:p>
            <a:pPr marL="0" indent="0">
              <a:lnSpc>
                <a:spcPct val="100000"/>
              </a:lnSpc>
              <a:buNone/>
            </a:pPr>
            <a:r>
              <a:rPr lang="en-US" sz="3400" b="1" dirty="0">
                <a:solidFill>
                  <a:srgbClr val="FFFFFF"/>
                </a:solidFill>
                <a:latin typeface="Cambria" pitchFamily="34" charset="0"/>
                <a:ea typeface="Cambria" pitchFamily="34" charset="-122"/>
                <a:cs typeface="Cambria" pitchFamily="34" charset="-120"/>
              </a:rPr>
              <a:t>Keep the AI value,</a:t>
            </a:r>
            <a:endParaRPr lang="en-US" sz="3400" dirty="0"/>
          </a:p>
          <a:p>
            <a:pPr marL="0" indent="0">
              <a:lnSpc>
                <a:spcPct val="100000"/>
              </a:lnSpc>
              <a:buNone/>
            </a:pPr>
            <a:r>
              <a:rPr lang="en-US" sz="3400" b="1" dirty="0">
                <a:solidFill>
                  <a:srgbClr val="FFFFFF"/>
                </a:solidFill>
                <a:latin typeface="Cambria" pitchFamily="34" charset="0"/>
                <a:ea typeface="Cambria" pitchFamily="34" charset="-122"/>
                <a:cs typeface="Cambria" pitchFamily="34" charset="-120"/>
              </a:rPr>
              <a:t>remove the privacy risk</a:t>
            </a:r>
            <a:endParaRPr lang="en-US" sz="3400" dirty="0"/>
          </a:p>
        </p:txBody>
      </p:sp>
      <p:sp>
        <p:nvSpPr>
          <p:cNvPr id="5" name="Shape 3"/>
          <p:cNvSpPr/>
          <p:nvPr/>
        </p:nvSpPr>
        <p:spPr>
          <a:xfrm>
            <a:off x="822960" y="3291840"/>
            <a:ext cx="3383280" cy="2743200"/>
          </a:xfrm>
          <a:prstGeom prst="roundRect">
            <a:avLst>
              <a:gd name="adj" fmla="val 2667"/>
            </a:avLst>
          </a:prstGeom>
          <a:solidFill>
            <a:srgbClr val="10333F"/>
          </a:solidFill>
          <a:ln/>
          <a:effectLst>
            <a:outerShdw blurRad="88900" dist="38100" dir="5400000" algn="bl" rotWithShape="0">
              <a:srgbClr val="0E2A38">
                <a:alpha val="10000"/>
              </a:srgbClr>
            </a:outerShdw>
          </a:effectLst>
        </p:spPr>
        <p:txBody>
          <a:bodyPr/>
          <a:lstStyle/>
          <a:p>
            <a:endParaRPr lang="es-ES"/>
          </a:p>
        </p:txBody>
      </p:sp>
      <p:sp>
        <p:nvSpPr>
          <p:cNvPr id="6" name="Shape 4"/>
          <p:cNvSpPr/>
          <p:nvPr/>
        </p:nvSpPr>
        <p:spPr>
          <a:xfrm>
            <a:off x="1051560" y="3520440"/>
            <a:ext cx="384048" cy="384048"/>
          </a:xfrm>
          <a:prstGeom prst="ellipse">
            <a:avLst/>
          </a:prstGeom>
          <a:solidFill>
            <a:srgbClr val="02C39A"/>
          </a:solidFill>
          <a:ln/>
        </p:spPr>
        <p:txBody>
          <a:bodyPr/>
          <a:lstStyle/>
          <a:p>
            <a:endParaRPr lang="es-ES"/>
          </a:p>
        </p:txBody>
      </p:sp>
      <p:sp>
        <p:nvSpPr>
          <p:cNvPr id="7" name="Text 5"/>
          <p:cNvSpPr/>
          <p:nvPr/>
        </p:nvSpPr>
        <p:spPr>
          <a:xfrm>
            <a:off x="1051560" y="35204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051560" y="4069080"/>
            <a:ext cx="292608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Outcome</a:t>
            </a:r>
            <a:endParaRPr lang="en-US" sz="1600" dirty="0"/>
          </a:p>
        </p:txBody>
      </p:sp>
      <p:sp>
        <p:nvSpPr>
          <p:cNvPr id="9" name="Text 7"/>
          <p:cNvSpPr/>
          <p:nvPr/>
        </p:nvSpPr>
        <p:spPr>
          <a:xfrm>
            <a:off x="1051560" y="4526280"/>
            <a:ext cx="2971800" cy="1371600"/>
          </a:xfrm>
          <a:prstGeom prst="rect">
            <a:avLst/>
          </a:prstGeom>
          <a:noFill/>
          <a:ln/>
        </p:spPr>
        <p:txBody>
          <a:bodyPr wrap="square" lIns="0" tIns="0" rIns="0" bIns="0" rtlCol="0" anchor="t"/>
          <a:lstStyle/>
          <a:p>
            <a:pPr marL="0" indent="0">
              <a:buNone/>
            </a:pPr>
            <a:r>
              <a:rPr lang="en-US" sz="1250" dirty="0">
                <a:solidFill>
                  <a:srgbClr val="CADDE4"/>
                </a:solidFill>
                <a:latin typeface="Calibri" pitchFamily="34" charset="0"/>
                <a:ea typeface="Calibri" pitchFamily="34" charset="-122"/>
                <a:cs typeface="Calibri" pitchFamily="34" charset="-120"/>
              </a:rPr>
              <a:t>An end-to-end n8n pipeline that analyses documents via external AI with PII protected throughout.</a:t>
            </a:r>
            <a:endParaRPr lang="en-US" sz="1250" dirty="0"/>
          </a:p>
        </p:txBody>
      </p:sp>
      <p:sp>
        <p:nvSpPr>
          <p:cNvPr id="10" name="Shape 8"/>
          <p:cNvSpPr/>
          <p:nvPr/>
        </p:nvSpPr>
        <p:spPr>
          <a:xfrm>
            <a:off x="4434840" y="3291840"/>
            <a:ext cx="3383280" cy="2743200"/>
          </a:xfrm>
          <a:prstGeom prst="roundRect">
            <a:avLst>
              <a:gd name="adj" fmla="val 2667"/>
            </a:avLst>
          </a:prstGeom>
          <a:solidFill>
            <a:srgbClr val="10333F"/>
          </a:solidFill>
          <a:ln/>
          <a:effectLst>
            <a:outerShdw blurRad="88900" dist="38100" dir="5400000" algn="bl" rotWithShape="0">
              <a:srgbClr val="0E2A38">
                <a:alpha val="10000"/>
              </a:srgbClr>
            </a:outerShdw>
          </a:effectLst>
        </p:spPr>
        <p:txBody>
          <a:bodyPr/>
          <a:lstStyle/>
          <a:p>
            <a:endParaRPr lang="es-ES"/>
          </a:p>
        </p:txBody>
      </p:sp>
      <p:sp>
        <p:nvSpPr>
          <p:cNvPr id="11" name="Shape 9"/>
          <p:cNvSpPr/>
          <p:nvPr/>
        </p:nvSpPr>
        <p:spPr>
          <a:xfrm>
            <a:off x="4663440" y="3520440"/>
            <a:ext cx="384048" cy="384048"/>
          </a:xfrm>
          <a:prstGeom prst="ellipse">
            <a:avLst/>
          </a:prstGeom>
          <a:solidFill>
            <a:srgbClr val="02C39A"/>
          </a:solidFill>
          <a:ln/>
        </p:spPr>
        <p:txBody>
          <a:bodyPr/>
          <a:lstStyle/>
          <a:p>
            <a:endParaRPr lang="es-ES"/>
          </a:p>
        </p:txBody>
      </p:sp>
      <p:sp>
        <p:nvSpPr>
          <p:cNvPr id="12" name="Text 10"/>
          <p:cNvSpPr/>
          <p:nvPr/>
        </p:nvSpPr>
        <p:spPr>
          <a:xfrm>
            <a:off x="4663440" y="35204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4663440" y="4069080"/>
            <a:ext cx="292608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Practical value</a:t>
            </a:r>
            <a:endParaRPr lang="en-US" sz="1600" dirty="0"/>
          </a:p>
        </p:txBody>
      </p:sp>
      <p:sp>
        <p:nvSpPr>
          <p:cNvPr id="14" name="Text 12"/>
          <p:cNvSpPr/>
          <p:nvPr/>
        </p:nvSpPr>
        <p:spPr>
          <a:xfrm>
            <a:off x="4663440" y="4526280"/>
            <a:ext cx="2971800" cy="1371600"/>
          </a:xfrm>
          <a:prstGeom prst="rect">
            <a:avLst/>
          </a:prstGeom>
          <a:noFill/>
          <a:ln/>
        </p:spPr>
        <p:txBody>
          <a:bodyPr wrap="square" lIns="0" tIns="0" rIns="0" bIns="0" rtlCol="0" anchor="t"/>
          <a:lstStyle/>
          <a:p>
            <a:pPr marL="0" indent="0">
              <a:buNone/>
            </a:pPr>
            <a:r>
              <a:rPr lang="en-US" sz="1250" dirty="0">
                <a:solidFill>
                  <a:srgbClr val="CADDE4"/>
                </a:solidFill>
                <a:latin typeface="Calibri" pitchFamily="34" charset="0"/>
                <a:ea typeface="Calibri" pitchFamily="34" charset="-122"/>
                <a:cs typeface="Calibri" pitchFamily="34" charset="-120"/>
              </a:rPr>
              <a:t>Lets healthcare facilities adopt high-value clinical AI without breaching the GDPR.</a:t>
            </a:r>
            <a:endParaRPr lang="en-US" sz="1250" dirty="0"/>
          </a:p>
        </p:txBody>
      </p:sp>
      <p:sp>
        <p:nvSpPr>
          <p:cNvPr id="15" name="Shape 13"/>
          <p:cNvSpPr/>
          <p:nvPr/>
        </p:nvSpPr>
        <p:spPr>
          <a:xfrm>
            <a:off x="8046720" y="3291840"/>
            <a:ext cx="3383280" cy="2743200"/>
          </a:xfrm>
          <a:prstGeom prst="roundRect">
            <a:avLst>
              <a:gd name="adj" fmla="val 2667"/>
            </a:avLst>
          </a:prstGeom>
          <a:solidFill>
            <a:srgbClr val="10333F"/>
          </a:solidFill>
          <a:ln/>
          <a:effectLst>
            <a:outerShdw blurRad="88900" dist="38100" dir="5400000" algn="bl" rotWithShape="0">
              <a:srgbClr val="0E2A38">
                <a:alpha val="10000"/>
              </a:srgbClr>
            </a:outerShdw>
          </a:effectLst>
        </p:spPr>
        <p:txBody>
          <a:bodyPr/>
          <a:lstStyle/>
          <a:p>
            <a:endParaRPr lang="es-ES"/>
          </a:p>
        </p:txBody>
      </p:sp>
      <p:sp>
        <p:nvSpPr>
          <p:cNvPr id="16" name="Shape 14"/>
          <p:cNvSpPr/>
          <p:nvPr/>
        </p:nvSpPr>
        <p:spPr>
          <a:xfrm>
            <a:off x="8275320" y="3520440"/>
            <a:ext cx="384048" cy="384048"/>
          </a:xfrm>
          <a:prstGeom prst="ellipse">
            <a:avLst/>
          </a:prstGeom>
          <a:solidFill>
            <a:srgbClr val="02C39A"/>
          </a:solidFill>
          <a:ln/>
        </p:spPr>
        <p:txBody>
          <a:bodyPr/>
          <a:lstStyle/>
          <a:p>
            <a:endParaRPr lang="es-ES"/>
          </a:p>
        </p:txBody>
      </p:sp>
      <p:sp>
        <p:nvSpPr>
          <p:cNvPr id="17" name="Text 15"/>
          <p:cNvSpPr/>
          <p:nvPr/>
        </p:nvSpPr>
        <p:spPr>
          <a:xfrm>
            <a:off x="8275320" y="35204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8275320" y="4069080"/>
            <a:ext cx="292608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Measured &amp; extensible</a:t>
            </a:r>
            <a:endParaRPr lang="en-US" sz="1600" dirty="0"/>
          </a:p>
        </p:txBody>
      </p:sp>
      <p:sp>
        <p:nvSpPr>
          <p:cNvPr id="19" name="Text 17"/>
          <p:cNvSpPr/>
          <p:nvPr/>
        </p:nvSpPr>
        <p:spPr>
          <a:xfrm>
            <a:off x="8275320" y="4526280"/>
            <a:ext cx="2971800" cy="1371600"/>
          </a:xfrm>
          <a:prstGeom prst="rect">
            <a:avLst/>
          </a:prstGeom>
          <a:noFill/>
          <a:ln/>
        </p:spPr>
        <p:txBody>
          <a:bodyPr wrap="square" lIns="0" tIns="0" rIns="0" bIns="0" rtlCol="0" anchor="t"/>
          <a:lstStyle/>
          <a:p>
            <a:pPr marL="0" indent="0">
              <a:buNone/>
            </a:pPr>
            <a:r>
              <a:rPr lang="en-US" sz="1250" dirty="0">
                <a:solidFill>
                  <a:srgbClr val="CADDE4"/>
                </a:solidFill>
                <a:latin typeface="Calibri" pitchFamily="34" charset="0"/>
                <a:ea typeface="Calibri" pitchFamily="34" charset="-122"/>
                <a:cs typeface="Calibri" pitchFamily="34" charset="-120"/>
              </a:rPr>
              <a:t>Objective precision/recall scoring, a provider-agnostic gateway, and room for more templates.</a:t>
            </a:r>
            <a:endParaRPr lang="en-US" sz="1250" dirty="0"/>
          </a:p>
        </p:txBody>
      </p:sp>
      <p:sp>
        <p:nvSpPr>
          <p:cNvPr id="20" name="Text 18"/>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02C39A"/>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2A38"/>
        </a:solidFill>
        <a:effectLst/>
      </p:bgPr>
    </p:bg>
    <p:spTree>
      <p:nvGrpSpPr>
        <p:cNvPr id="1" name=""/>
        <p:cNvGrpSpPr/>
        <p:nvPr/>
      </p:nvGrpSpPr>
      <p:grpSpPr>
        <a:xfrm>
          <a:off x="0" y="0"/>
          <a:ext cx="0" cy="0"/>
          <a:chOff x="0" y="0"/>
          <a:chExt cx="0" cy="0"/>
        </a:xfrm>
      </p:grpSpPr>
      <p:sp>
        <p:nvSpPr>
          <p:cNvPr id="2" name="Shape 0"/>
          <p:cNvSpPr/>
          <p:nvPr/>
        </p:nvSpPr>
        <p:spPr>
          <a:xfrm>
            <a:off x="8961120" y="-1645920"/>
            <a:ext cx="4937760" cy="4937760"/>
          </a:xfrm>
          <a:prstGeom prst="ellipse">
            <a:avLst/>
          </a:prstGeom>
          <a:solidFill>
            <a:srgbClr val="028090">
              <a:alpha val="36000"/>
            </a:srgbClr>
          </a:solidFill>
          <a:ln/>
        </p:spPr>
        <p:txBody>
          <a:bodyPr/>
          <a:lstStyle/>
          <a:p>
            <a:endParaRPr lang="es-ES"/>
          </a:p>
        </p:txBody>
      </p:sp>
      <p:sp>
        <p:nvSpPr>
          <p:cNvPr id="3" name="Shape 1"/>
          <p:cNvSpPr/>
          <p:nvPr/>
        </p:nvSpPr>
        <p:spPr>
          <a:xfrm>
            <a:off x="10424160" y="4206240"/>
            <a:ext cx="3108960" cy="3108960"/>
          </a:xfrm>
          <a:prstGeom prst="ellipse">
            <a:avLst/>
          </a:prstGeom>
          <a:solidFill>
            <a:srgbClr val="02C39A">
              <a:alpha val="26000"/>
            </a:srgbClr>
          </a:solidFill>
          <a:ln/>
        </p:spPr>
        <p:txBody>
          <a:bodyPr/>
          <a:lstStyle/>
          <a:p>
            <a:endParaRPr lang="es-ES"/>
          </a:p>
        </p:txBody>
      </p:sp>
      <p:sp>
        <p:nvSpPr>
          <p:cNvPr id="4" name="Text 2"/>
          <p:cNvSpPr/>
          <p:nvPr/>
        </p:nvSpPr>
        <p:spPr>
          <a:xfrm>
            <a:off x="822960" y="2468880"/>
            <a:ext cx="8229600" cy="109728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p:nvPr/>
        </p:nvSpPr>
        <p:spPr>
          <a:xfrm>
            <a:off x="841248" y="3657600"/>
            <a:ext cx="8686800" cy="731520"/>
          </a:xfrm>
          <a:prstGeom prst="rect">
            <a:avLst/>
          </a:prstGeom>
          <a:noFill/>
          <a:ln/>
        </p:spPr>
        <p:txBody>
          <a:bodyPr wrap="square" lIns="0" tIns="0" rIns="0" bIns="0" rtlCol="0" anchor="ctr"/>
          <a:lstStyle/>
          <a:p>
            <a:pPr marL="0" indent="0">
              <a:buNone/>
            </a:pPr>
            <a:r>
              <a:rPr lang="en-US" sz="1700" dirty="0">
                <a:solidFill>
                  <a:srgbClr val="CADDE4"/>
                </a:solidFill>
                <a:latin typeface="Calibri" pitchFamily="34" charset="0"/>
                <a:ea typeface="Calibri" pitchFamily="34" charset="-122"/>
                <a:cs typeface="Calibri" pitchFamily="34" charset="-120"/>
              </a:rPr>
              <a:t>Questions on the architecture, the privacy model, or the evaluation are welcome.</a:t>
            </a:r>
            <a:endParaRPr lang="en-US" sz="1700" dirty="0"/>
          </a:p>
        </p:txBody>
      </p:sp>
      <p:sp>
        <p:nvSpPr>
          <p:cNvPr id="6" name="Shape 4"/>
          <p:cNvSpPr/>
          <p:nvPr/>
        </p:nvSpPr>
        <p:spPr>
          <a:xfrm>
            <a:off x="859536" y="3383280"/>
            <a:ext cx="2743200" cy="0"/>
          </a:xfrm>
          <a:prstGeom prst="line">
            <a:avLst/>
          </a:prstGeom>
          <a:noFill/>
          <a:ln w="25400">
            <a:solidFill>
              <a:srgbClr val="028090"/>
            </a:solidFill>
            <a:prstDash val="solid"/>
          </a:ln>
        </p:spPr>
        <p:txBody>
          <a:bodyPr/>
          <a:lstStyle/>
          <a:p>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3295</Words>
  <Application>Microsoft Office PowerPoint</Application>
  <PresentationFormat>Widescreen</PresentationFormat>
  <Paragraphs>261</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Pseudonymizer for Medical Data</dc:title>
  <dc:subject>PptxGenJS Presentation</dc:subject>
  <dc:creator>AI Pseudonymizer Team</dc:creator>
  <cp:lastModifiedBy>Rostislav Valentinov Rusev</cp:lastModifiedBy>
  <cp:revision>5</cp:revision>
  <dcterms:created xsi:type="dcterms:W3CDTF">2026-06-26T06:22:42Z</dcterms:created>
  <dcterms:modified xsi:type="dcterms:W3CDTF">2026-06-26T06:26:33Z</dcterms:modified>
</cp:coreProperties>
</file>